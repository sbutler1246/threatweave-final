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dfe46c0e0604dab" /><Relationship Type="http://schemas.openxmlformats.org/officeDocument/2006/relationships/extended-properties" Target="/docProps/app.xml" Id="Red2e17cc363c4422" /><Relationship Type="http://schemas.openxmlformats.org/officeDocument/2006/relationships/officeDocument" Target="/ppt/presentation.xml" Id="Rf37fc090d18e4210" /></Relationships>
</file>

<file path=ppt/presentation.xml><?xml version="1.0" encoding="utf-8"?>
<p:presentation xmlns:p="http://schemas.openxmlformats.org/presentationml/2006/main">
  <p:sldMasterIdLst>
    <p:sldMasterId xmlns:r="http://schemas.openxmlformats.org/officeDocument/2006/relationships" id="2147483648" r:id="Rc4bd9002d5a0448b"/>
  </p:sldMasterIdLst>
  <p:notesMasterIdLst>
    <p:notesMasterId xmlns:r="http://schemas.openxmlformats.org/officeDocument/2006/relationships" r:id="R44ca31de3b184840"/>
  </p:notesMasterIdLst>
  <p:sldIdLst>
    <p:sldId xmlns:r="http://schemas.openxmlformats.org/officeDocument/2006/relationships" id="256" r:id="R7287caab8b4d4c03"/>
    <p:sldId xmlns:r="http://schemas.openxmlformats.org/officeDocument/2006/relationships" id="257" r:id="Reba15748daa94a6a"/>
    <p:sldId xmlns:r="http://schemas.openxmlformats.org/officeDocument/2006/relationships" id="258" r:id="Re7176cf08a1d4104"/>
    <p:sldId xmlns:r="http://schemas.openxmlformats.org/officeDocument/2006/relationships" id="259" r:id="R75d7dc52309c4ddc"/>
    <p:sldId xmlns:r="http://schemas.openxmlformats.org/officeDocument/2006/relationships" id="260" r:id="R6e333ee4c6bf4c9e"/>
    <p:sldId xmlns:r="http://schemas.openxmlformats.org/officeDocument/2006/relationships" id="261" r:id="R7f08ca89d02a42e9"/>
    <p:sldId xmlns:r="http://schemas.openxmlformats.org/officeDocument/2006/relationships" id="262" r:id="Rd31c6946605b45ce"/>
    <p:sldId xmlns:r="http://schemas.openxmlformats.org/officeDocument/2006/relationships" id="263" r:id="R38c5a5353091465d"/>
    <p:sldId xmlns:r="http://schemas.openxmlformats.org/officeDocument/2006/relationships" id="264" r:id="Rb1b4cf9843ea4768"/>
    <p:sldId xmlns:r="http://schemas.openxmlformats.org/officeDocument/2006/relationships" id="265" r:id="R91d73f7ba6df4084"/>
    <p:sldId xmlns:r="http://schemas.openxmlformats.org/officeDocument/2006/relationships" id="266" r:id="R8221cb544ce54032"/>
    <p:sldId xmlns:r="http://schemas.openxmlformats.org/officeDocument/2006/relationships" id="267" r:id="R9e144ffbf2154024"/>
    <p:sldId xmlns:r="http://schemas.openxmlformats.org/officeDocument/2006/relationships" id="268" r:id="R809d181e103d424a"/>
    <p:sldId xmlns:r="http://schemas.openxmlformats.org/officeDocument/2006/relationships" id="269" r:id="Rb3bc269a6cf34c5e"/>
    <p:sldId xmlns:r="http://schemas.openxmlformats.org/officeDocument/2006/relationships" id="270" r:id="R2b6e6ed2f22e41ab"/>
    <p:sldId xmlns:r="http://schemas.openxmlformats.org/officeDocument/2006/relationships" id="271" r:id="Rf100ed9c7b5042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7885320a034fb9" /><Relationship Type="http://schemas.openxmlformats.org/officeDocument/2006/relationships/slideMaster" Target="/ppt/slideMasters/slideMaster1.xml" Id="Rc4bd9002d5a0448b" /><Relationship Type="http://schemas.openxmlformats.org/officeDocument/2006/relationships/notesMaster" Target="/ppt/notesMasters/notesMaster1.xml" Id="R44ca31de3b184840" /><Relationship Type="http://schemas.openxmlformats.org/officeDocument/2006/relationships/presProps" Target="/ppt/presProps.xml" Id="Rf4c30a42d44349a2" /><Relationship Type="http://schemas.openxmlformats.org/officeDocument/2006/relationships/tableStyles" Target="/ppt/tableStyles.xml" Id="Ra611821e148b4e1d" /><Relationship Type="http://schemas.openxmlformats.org/officeDocument/2006/relationships/slide" Target="/ppt/slides/slide1.xml" Id="R7287caab8b4d4c03" /><Relationship Type="http://schemas.openxmlformats.org/officeDocument/2006/relationships/slide" Target="/ppt/slides/slide2.xml" Id="Reba15748daa94a6a" /><Relationship Type="http://schemas.openxmlformats.org/officeDocument/2006/relationships/slide" Target="/ppt/slides/slide3.xml" Id="Re7176cf08a1d4104" /><Relationship Type="http://schemas.openxmlformats.org/officeDocument/2006/relationships/slide" Target="/ppt/slides/slide4.xml" Id="R75d7dc52309c4ddc" /><Relationship Type="http://schemas.openxmlformats.org/officeDocument/2006/relationships/slide" Target="/ppt/slides/slide5.xml" Id="R6e333ee4c6bf4c9e" /><Relationship Type="http://schemas.openxmlformats.org/officeDocument/2006/relationships/slide" Target="/ppt/slides/slide6.xml" Id="R7f08ca89d02a42e9" /><Relationship Type="http://schemas.openxmlformats.org/officeDocument/2006/relationships/slide" Target="/ppt/slides/slide7.xml" Id="Rd31c6946605b45ce" /><Relationship Type="http://schemas.openxmlformats.org/officeDocument/2006/relationships/slide" Target="/ppt/slides/slide8.xml" Id="R38c5a5353091465d" /><Relationship Type="http://schemas.openxmlformats.org/officeDocument/2006/relationships/slide" Target="/ppt/slides/slide9.xml" Id="Rb1b4cf9843ea4768" /><Relationship Type="http://schemas.openxmlformats.org/officeDocument/2006/relationships/slide" Target="/ppt/slides/slide10.xml" Id="R91d73f7ba6df4084" /><Relationship Type="http://schemas.openxmlformats.org/officeDocument/2006/relationships/slide" Target="/ppt/slides/slide11.xml" Id="R8221cb544ce54032" /><Relationship Type="http://schemas.openxmlformats.org/officeDocument/2006/relationships/slide" Target="/ppt/slides/slide12.xml" Id="R9e144ffbf2154024" /><Relationship Type="http://schemas.openxmlformats.org/officeDocument/2006/relationships/slide" Target="/ppt/slides/slide13.xml" Id="R809d181e103d424a" /><Relationship Type="http://schemas.openxmlformats.org/officeDocument/2006/relationships/slide" Target="/ppt/slides/slide14.xml" Id="Rb3bc269a6cf34c5e" /><Relationship Type="http://schemas.openxmlformats.org/officeDocument/2006/relationships/slide" Target="/ppt/slides/slide15.xml" Id="R2b6e6ed2f22e41ab" /><Relationship Type="http://schemas.openxmlformats.org/officeDocument/2006/relationships/slide" Target="/ppt/slides/slide16.xml" Id="Rf100ed9c7b5042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ad900203bb44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df48a91b1e4ab7" /><Relationship Type="http://schemas.openxmlformats.org/officeDocument/2006/relationships/notesMaster" Target="/ppt/notesMasters/notesMaster1.xml" Id="R702db16713594e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add81dfe7d4118" /><Relationship Type="http://schemas.openxmlformats.org/officeDocument/2006/relationships/notesMaster" Target="/ppt/notesMasters/notesMaster1.xml" Id="Rf65a7e6f2ef24a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d1b97b901d4dd8" /><Relationship Type="http://schemas.openxmlformats.org/officeDocument/2006/relationships/notesMaster" Target="/ppt/notesMasters/notesMaster1.xml" Id="R5de667c0e4ba4a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8f5c3d335e4617" /><Relationship Type="http://schemas.openxmlformats.org/officeDocument/2006/relationships/notesMaster" Target="/ppt/notesMasters/notesMaster1.xml" Id="Rfdfba71297fb44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bd9843f6fb4ef7" /><Relationship Type="http://schemas.openxmlformats.org/officeDocument/2006/relationships/notesMaster" Target="/ppt/notesMasters/notesMaster1.xml" Id="R25dd6bf346b243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f03114ccf4415f" /><Relationship Type="http://schemas.openxmlformats.org/officeDocument/2006/relationships/notesMaster" Target="/ppt/notesMasters/notesMaster1.xml" Id="R156fa1e9be4a4c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dea74042554af2" /><Relationship Type="http://schemas.openxmlformats.org/officeDocument/2006/relationships/notesMaster" Target="/ppt/notesMasters/notesMaster1.xml" Id="R71d37a2fde4c4b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d1a9259eeb43e1" /><Relationship Type="http://schemas.openxmlformats.org/officeDocument/2006/relationships/notesMaster" Target="/ppt/notesMasters/notesMaster1.xml" Id="R70e0f7e49a2642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c8fb2a317741d3" /><Relationship Type="http://schemas.openxmlformats.org/officeDocument/2006/relationships/notesMaster" Target="/ppt/notesMasters/notesMaster1.xml" Id="R1f7cca2a14474a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6c81706bff400f" /><Relationship Type="http://schemas.openxmlformats.org/officeDocument/2006/relationships/notesMaster" Target="/ppt/notesMasters/notesMaster1.xml" Id="R69f221a234de48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86e9de216f4d72" /><Relationship Type="http://schemas.openxmlformats.org/officeDocument/2006/relationships/notesMaster" Target="/ppt/notesMasters/notesMaster1.xml" Id="Radb2847b1ce34d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f772d178774624" /><Relationship Type="http://schemas.openxmlformats.org/officeDocument/2006/relationships/notesMaster" Target="/ppt/notesMasters/notesMaster1.xml" Id="R62e3a12f87f648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2d0f5cb93c64eec" /><Relationship Type="http://schemas.openxmlformats.org/officeDocument/2006/relationships/notesMaster" Target="/ppt/notesMasters/notesMaster1.xml" Id="R57e52db8d55c4e9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f4accef53c4f46" /><Relationship Type="http://schemas.openxmlformats.org/officeDocument/2006/relationships/notesMaster" Target="/ppt/notesMasters/notesMaster1.xml" Id="R7752ef3bbf3b44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67de1938caf4e60" /><Relationship Type="http://schemas.openxmlformats.org/officeDocument/2006/relationships/notesMaster" Target="/ppt/notesMasters/notesMaster1.xml" Id="R72d2d916602c409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fc354df0373485b" /><Relationship Type="http://schemas.openxmlformats.org/officeDocument/2006/relationships/notesMaster" Target="/ppt/notesMasters/notesMaster1.xml" Id="R9381b7055c8948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S:/ThreatWeave/docs/ThreatWeave_evaluation_freeze_checkpoint.md and S:/ThreatWeave/work/evaluation_corpus_chunks/20261016T040604Z-bccf59fb/summary.json. Frozen source-level protocol, seed 42, no held-out tuning. MODE field and evidence format confound retrieval-only causal attribution. Actual context cap: 3,000 UTF-8 bytes.</a:t>
            </a:r>
          </a:p>
          <a:p xmlns:a="http://schemas.openxmlformats.org/drawingml/2006/main">
            <a:r>
              <a:t>Sources: S:/ThreatWeave/work/application_qa/20261015T074134Z-a878f56c/display.json and S:/ThreatWeave/work/application_qa/20261015T165813Z-950f9f1f/display.json, displayed through S:/ThreatWeave/demo_replay.py and the production render_result function. Browser captures show actual saved outputs; no new model/database call. Earlier live graph-only/full-hybrid checks are historical. Current replay is not a live latency measurement. Renderer may add entity display-column metadata to exports; answer/evidence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S:/ThreatWeave/docs/ThreatWeave_evaluation_freeze_checkpoint.md and S:/ThreatWeave/work/evaluation_corpus_chunks/20261016T040604Z-bccf59fb/summary.json. Frozen source-level protocol, seed 42, no held-out tuning. MODE field and evidence format confound retrieval-only causal attribution. Actual context cap: 3,000 UTF-8 bytes.</a:t>
            </a:r>
          </a:p>
          <a:p xmlns:a="http://schemas.openxmlformats.org/drawingml/2006/main">
            <a:r>
              <a:t>Sources: S:/ThreatWeave/work/application_qa/20261015T074134Z-a878f56c/display.json and S:/ThreatWeave/work/application_qa/20261015T165813Z-950f9f1f/display.json, displayed through S:/ThreatWeave/demo_replay.py and the production render_result function. Browser captures show actual saved outputs; no new model/database call. Earlier live graph-only/full-hybrid checks are historical. Current replay is not a live latency measurement. Renderer may add entity display-column metadata to exports; answer/evidence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S:/ThreatWeave/docs/ThreatWeave_evaluation_graph_index_step.md and S:/ThreatWeave/docs/ThreatWeave_final_evaluation_step.md. Shared scope 101 CISA windows and 190 ATT&amp;CK reference parents. 510 text vectors, 212 domain graph nodes, 394 directed facts, 212 graph vectors, 2,120 walks. Integrity verification does not prove semantic accuracy.</a:t>
            </a:r>
          </a:p>
          <a:p xmlns:a="http://schemas.openxmlformats.org/drawingml/2006/main">
            <a:r>
              <a:t>Source: schemas.py, extraction/, resolve.py, graph/, retrieval/, application_engine.py.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S:/ThreatWeave/docs/ThreatWeave_evaluation_graph_index_step.md and S:/ThreatWeave/docs/ThreatWeave_final_evaluation_step.md. Shared scope 101 CISA windows and 190 ATT&amp;CK reference parents. 510 text vectors, 212 domain graph nodes, 394 directed facts, 212 graph vectors, 2,120 walks. Integrity verification does not prove semantic accuracy.</a:t>
            </a:r>
          </a:p>
          <a:p xmlns:a="http://schemas.openxmlformats.org/drawingml/2006/main">
            <a:r>
              <a:t>Sources: S:/ThreatWeave/docs/ThreatWeave_evaluation_freeze_checkpoint.md and S:/ThreatWeave/work/evaluation_corpus_chunks/20261016T040604Z-bccf59fb/summary.json. Frozen source-level protocol, seed 42, no held-out tuning. MODE field and evidence format confound retrieval-only causal attribution. Actual context cap: 3,000 UTF-8 bytes.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S:/ThreatWeave/docs/ThreatWeave_evaluation_freeze_checkpoint.md and S:/ThreatWeave/work/evaluation_corpus_chunks/20261016T040604Z-bccf59fb/summary.json. Frozen source-level protocol, seed 42, no held-out tuning. MODE field and evidence format confound retrieval-only causal attribution. Actual context cap: 3,000 UTF-8 bytes.</a:t>
            </a:r>
          </a:p>
          <a:p xmlns:a="http://schemas.openxmlformats.org/drawingml/2006/main">
            <a:r>
              <a:t>Sources: S:/ThreatWeave/docs/ThreatWeave_evaluation_graph_index_step.md and S:/ThreatWeave/docs/ThreatWeave_final_evaluation_step.md. Shared scope 101 CISA windows and 190 ATT&amp;CK reference parents. 510 text vectors, 212 domain graph nodes, 394 directed facts, 212 graph vectors, 2,120 walks. Integrity verification does not prove semantic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S:/ThreatWeave/work/final_evaluation_review_checks/20261016T052517Z-4778a10b and S:/ThreatWeave/docs/ThreatWeave_final_evaluation_checkpoint.md. 240 measured outcomes plus 4 excluded warm-ups. 210 valid non-abstaining answers, 15 graph-only empty-evidence abstentions, 15 generation validation failures. Valid refers to schema/citation validation, not semantic correctness. 9 repeated-citation and 6 repeated-claim failures after allowed attempts. All missing values preserved.</a:t>
            </a:r>
          </a:p>
          <a:p xmlns:a="http://schemas.openxmlformats.org/drawingml/2006/main">
            <a:r>
              <a:t>Sources: S:/ThreatWeave/docs/ThreatWeave_primary_completed_ratings.json and S:/ThreatWeave/evaluation/human_analysis.py. Primary: 80 prespecified repeat-one entries, partially blinded. Author entered/confirmed ratings. There was limited AI assistance for review questions. Secondary: all 20 completed entries, same-author declared delayed rescore. No independent second reviewer. Day-level dates do not verify elapsed delay. Both reviews passed validation before method unblinding. Source: work/human_scoring_analysis/20261016T174034Z-7c181a33 and work/final_completion/submission_results.json. Secondary scores remain separate from primary results.</a:t>
            </a:r>
          </a:p>
          <a:p xmlns:a="http://schemas.openxmlformats.org/drawingml/2006/main">
            <a:r>
              <a:t>Sources: S:/ThreatWeave/docs/ThreatWeave_evaluation_freeze_checkpoint.md and S:/ThreatWeave/work/evaluation_corpus_chunks/20261016T040604Z-bccf59fb/summary.json. Frozen source-level protocol, seed 42, no held-out tuning. MODE field and evidence format confound retrieval-only causal attribution. Actual context cap: 3,000 UTF-8 bytes.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S:/ThreatWeave/work/final_evaluation_review_checks/20261016T052517Z-4778a10b and S:/ThreatWeave/docs/ThreatWeave_final_evaluation_checkpoint.md. 240 measured outcomes plus 4 excluded warm-ups. 210 valid non-abstaining answers, 15 graph-only empty-evidence abstentions, 15 generation validation failures. Valid refers to schema/citation validation, not semantic correctness. 9 repeated-citation and 6 repeated-claim failures after allowed attempts. All missing values preserved.</a:t>
            </a:r>
          </a:p>
          <a:p xmlns:a="http://schemas.openxmlformats.org/drawingml/2006/main">
            <a:r>
              <a:t>Source: S:/ThreatWeave/docs/ThreatWeave_human_answer_review_step.md. All 720 metric slots: 639 numeric, 36 evaluator output-limit failures, 45 unavailable slots from 15 generation failures. Both completed review exports passed validation before unblinding. Full-hybrid available faithfulness is 0.626 (52/60), text-only 0.568 (40/60). Available means and paired estimates use different eligibility rules. Same-model automated judging can share generator biases.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S:/ThreatWeave/work/extraction_scoring_analysis/20261016T171118Z-dc75fabd/results.json, protocol.json, annotation_audit.json. 146 gold records plus 3 existing additional support assertions give 149 source-scoped assertions. 114 windows: 61 ready, 49 empty, 4 persistent validation failures. 196 pre-review occurrences, 23 inside complete scopes, 22 unique predictions. TP 10, FP 12 exact nonmatches, FN 139. Strict and duplicate-normalized sensitivity agree. Five nonmatches may expose inventory/granularity gaps. No relabeling or model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S:/ThreatWeave/work/application_qa/20261015T074134Z-a878f56c/display.json and S:/ThreatWeave/work/application_qa/20261015T165813Z-950f9f1f/display.json, displayed through S:/ThreatWeave/demo_replay.py and the production render_result function. Browser captures show actual saved outputs; no new model/database call. Earlier live graph-only/full-hybrid checks are historical. Current replay is not a live latency measurement. Renderer may add entity display-column metadata to exports; answer/evidence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S:/ThreatWeave/work/application_qa/20261015T074134Z-a878f56c/display.json and S:/ThreatWeave/work/application_qa/20261015T165813Z-950f9f1f/display.json, displayed through S:/ThreatWeave/demo_replay.py and the production render_result function. Browser captures show actual saved outputs; no new model/database call. Earlier live graph-only/full-hybrid checks are historical. Current replay is not a live latency measurement. Renderer may add entity display-column metadata to exports; answer/evidence remain unchanged.</a:t>
            </a:r>
          </a:p>
          <a:p xmlns:a="http://schemas.openxmlformats.org/drawingml/2006/main">
            <a:r>
              <a:t>Vector similarity is a candidate-selection aid, not evidence that an incident relationship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S:/ThreatWeave/docs/ThreatWeave_primary_completed_ratings.json and S:/ThreatWeave/evaluation/human_analysis.py. Primary: 80 prespecified repeat-one entries, partially blinded. Author entered/confirmed ratings. There was limited AI assistance for review questions. Secondary: all 20 completed entries, same-author declared delayed rescore. No independent second reviewer. Day-level dates do not verify elapsed delay. Both reviews passed validation before method unblinding. Source: work/human_scoring_analysis/20261016T174034Z-7c181a33 and work/final_completion/submission_results.json. Secondary scores remain separate from primary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S:/ThreatWeave/docs/ThreatWeave_human_answer_review_step.md. All 720 metric slots: 639 numeric, 36 evaluator output-limit failures, 45 unavailable slots from 15 generation failures. Both completed review exports passed validation before unblinding. Full-hybrid available faithfulness is 0.626 (52/60), text-only 0.568 (40/60). Available means and paired estimates use different eligibility rules. Same-model automated judging can share generator biases. The generator and judge use the same local model. Missing values stay missing.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S:/ThreatWeave/docs/ThreatWeave_primary_completed_ratings.json and S:/ThreatWeave/evaluation/human_analysis.py. Primary: 80 prespecified repeat-one entries, partially blinded. Author entered/confirmed ratings. There was limited AI assistance for review questions. Secondary: all 20 completed entries, same-author declared delayed rescore. No independent second reviewer. Day-level dates do not verify elapsed delay. Both reviews passed validation before method unblinding. Source: work/human_scoring_analysis/20261016T174034Z-7c181a33 and work/final_completion/submission_results.json. Secondary scores remain separate from primary results. Source: S:/ThreatWeave/docs/ThreatWeave_human_answer_review_step.md. All 720 metric slots: 639 numeric, 36 evaluator output-limit failures, 45 unavailable slots from 15 generation failures. Both completed review exports passed validation before unblinding. Full-hybrid available faithfulness is 0.626 (52/60), text-only 0.568 (40/60). Available means and paired estimates use different eligibility rules. Same-model automated judging can share generator biases. Full hybrid minus text only. Question bootstrap 10,000 draws, seed42. Human uses repeat one. Automatic requires all three numeric repeats in both conditions. Intervals are exploratory and unadjusted for multiplicity.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S:/ThreatWeave/docs/ThreatWeave_primary_completed_ratings.json and S:/ThreatWeave/evaluation/human_analysis.py. Primary: 80 prespecified repeat-one entries, partially blinded. Author entered/confirmed ratings. There was limited AI assistance for review questions. Secondary: all 20 completed entries, same-author declared delayed rescore. No independent second reviewer. Day-level dates do not verify elapsed delay. Both reviews passed validation before method unblinding. Source: work/human_scoring_analysis/20261016T174034Z-7c181a33 and work/final_completion/submission_results.json. Secondary scores remain separate from primary results. Nineteen numeric pairs per dimension, S011 excluded as failed-response N/A. Secondary minus primary: factuality -0.789, completeness -0.211, coherence -0.737. Five question clusters, exploratory descriptive 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S:/ThreatWeave/work/extraction_scoring_analysis/20261016T171118Z-dc75fabd/results.json, protocol.json, annotation_audit.json. 146 gold records plus 3 existing additional support assertions give 149 source-scoped assertions. 114 windows: 61 ready, 49 empty, 4 persistent validation failures. 196 pre-review occurrences, 23 inside complete scopes, 22 unique predictions. TP 10, FP 12 exact nonmatches, FN 139. Strict and duplicate-normalized sensitivity agree. Five nonmatches may expose inventory/granularity gaps. No relabeling or model rerun.</a:t>
            </a:r>
          </a:p>
          <a:p xmlns:a="http://schemas.openxmlformats.org/drawingml/2006/main">
            <a:r>
              <a:t>Sources: S:/ThreatWeave/docs/ThreatWeave_evaluation_freeze_checkpoint.md and S:/ThreatWeave/work/evaluation_corpus_chunks/20261016T040604Z-bccf59fb/summary.json. Frozen source-level protocol, seed 42, no held-out tuning. MODE field and evidence format confound retrieval-only causal attribution. Actual context cap: 3,000 UTF-8 bytes.</a:t>
            </a:r>
          </a:p>
          <a:p xmlns:a="http://schemas.openxmlformats.org/drawingml/2006/main">
            <a:r>
              <a:t>Sources: S:/ThreatWeave/docs/ThreatWeave_primary_completed_ratings.json and S:/ThreatWeave/evaluation/human_analysis.py. Primary: 80 prespecified repeat-one entries, partially blinded. Author entered/confirmed ratings. There was limited AI assistance for review questions. Secondary: all 20 completed entries, same-author declared delayed rescore. No independent second reviewer. Day-level dates do not verify elapsed delay. Both reviews passed validation before method unblinding. Source: work/human_scoring_analysis/20261016T174034Z-7c181a33 and work/final_completion/submission_results.json. Secondary scores remain separate from primary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S:/ThreatWeave/docs/ThreatWeave_evaluation_freeze_checkpoint.md and S:/ThreatWeave/work/evaluation_corpus_chunks/20261016T040604Z-bccf59fb/summary.json. Frozen source-level protocol, seed 42, no held-out tuning. MODE field and evidence format confound retrieval-only causal attribution. Actual context cap: 3,000 UTF-8 bytes.</a:t>
            </a:r>
          </a:p>
          <a:p xmlns:a="http://schemas.openxmlformats.org/drawingml/2006/main">
            <a:r>
              <a:t>Sources: S:/ThreatWeave/docs/ThreatWeave_evaluation_graph_index_step.md and S:/ThreatWeave/docs/ThreatWeave_final_evaluation_step.md. Shared scope 101 CISA windows and 190 ATT&amp;CK reference parents. 510 text vectors, 212 domain graph nodes, 394 directed facts, 212 graph vectors, 2,120 walks. Integrity verification does not prove semantic accuracy.</a:t>
            </a:r>
          </a:p>
          <a:p xmlns:a="http://schemas.openxmlformats.org/drawingml/2006/main">
            <a:r>
              <a:t>Source: S:/ThreatWeave/work/extraction_scoring_analysis/20261016T171118Z-dc75fabd/results.json, protocol.json, annotation_audit.json. 146 gold records plus 3 existing additional support assertions give 149 source-scoped assertions. 114 windows: 61 ready, 49 empty, 4 persistent validation failures. 196 pre-review occurrences, 23 inside complete scopes, 22 unique predictions. TP 10, FP 12 exact nonmatches, FN 139. Strict and duplicate-normalized sensitivity agree. Five nonmatches may expose inventory/granularity gaps. No relabeling or model rerun.</a:t>
            </a:r>
          </a:p>
          <a:p xmlns:a="http://schemas.openxmlformats.org/drawingml/2006/main">
            <a:r>
              <a:t>Source: S:/ThreatWeave/work/final_evaluation_review_checks/20261016T052517Z-4778a10b and S:/ThreatWeave/docs/ThreatWeave_final_evaluation_checkpoint.md. 240 measured outcomes plus 4 excluded warm-ups. 210 valid non-abstaining answers, 15 graph-only empty-evidence abstentions, 15 generation validation failures. Valid refers to schema/citation validation, not semantic correctness. 9 repeated-citation and 6 repeated-claim failures after allowed attempts. All missing values preserved.</a:t>
            </a:r>
          </a:p>
          <a:p xmlns:a="http://schemas.openxmlformats.org/drawingml/2006/main">
            <a:r>
              <a:t>Source: S:/ThreatWeave/docs/ThreatWeave_human_answer_review_step.md. All 720 metric slots: 639 numeric, 36 evaluator output-limit failures, 45 unavailable slots from 15 generation failures. Both completed review exports passed validation before unblinding. Full-hybrid available faithfulness is 0.626 (52/60), text-only 0.568 (40/60). Available means and paired estimates use different eligibility rules. Same-model automated judging can share generator biases.</a:t>
            </a:r>
          </a:p>
          <a:p xmlns:a="http://schemas.openxmlformats.org/drawingml/2006/main">
            <a:r>
              <a:t>Sources: S:/ThreatWeave/work/application_qa/20261015T074134Z-a878f56c/display.json and S:/ThreatWeave/work/application_qa/20261015T165813Z-950f9f1f/display.json, displayed through S:/ThreatWeave/demo_replay.py and the production render_result function. Browser captures show actual saved outputs; no new model/database call. Earlier live graph-only/full-hybrid checks are historical. Current replay is not a live latency measurement. Renderer may add entity display-column metadata to exports; answer/evidence remain unchanged.</a:t>
            </a:r>
          </a:p>
          <a:p xmlns:a="http://schemas.openxmlformats.org/drawingml/2006/main">
            <a:r>
              <a:t>Sources: S:/ThreatWeave/docs/ThreatWeave_primary_completed_ratings.json and S:/ThreatWeave/evaluation/human_analysis.py. Primary: 80 prespecified repeat-one entries, partially blinded. Author entered/confirmed ratings. There was limited AI assistance for review questions. Secondary: all 20 completed entries, same-author declared delayed rescore. No independent second reviewer. Day-level dates do not verify elapsed delay. Both reviews passed validation before method unblinding. Source: work/human_scoring_analysis/20261016T174034Z-7c181a33 and work/final_completion/submission_results.json. Secondary scores remain separate from primary results.</a:t>
            </a:r>
          </a:p>
          <a:p xmlns:a="http://schemas.openxmlformats.org/drawingml/2006/main">
            <a:r>
              <a:t>Authorship: Stephen Butler. Codex assisted code, source/score auditing, statistical tooling and deliverable preparation. Video uses synthetic narration.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bf1cebf9284b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1fe768a794490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02639a01ac46c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c2025669aa47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e2e336586b4a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219819ce9249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331486-D9F8-45F3-85F2-A9CF98DFC2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AED6A58-62BE-467D-AE8D-DFC1449A529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8753DC8-5115-4EFC-B86D-0799E0D85C6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5412C4-7B80-413B-996D-6AE6C0A5D6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A68991-6276-44FD-8390-E550D8ACD6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EE4467-4250-46A6-BB15-872F0FBE7C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FC2C17-356A-47D4-B10F-8F5E50BFEC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C27CE70-625C-4CB1-9B3E-0A3EC5A8D92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EDA663-5851-4954-93DE-4BB3A164AB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6AE67B7-4F25-4EDD-8CDB-FD251D0BA9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dfbec24aa94347" /><Relationship Type="http://schemas.openxmlformats.org/officeDocument/2006/relationships/slideLayout" Target="/ppt/slideLayouts/slideLayout1.xml" Id="Rb92d35a16c2a45fb" /><Relationship Type="http://schemas.openxmlformats.org/officeDocument/2006/relationships/slideLayout" Target="/ppt/slideLayouts/slideLayout2.xml" Id="Ra97298dc21234f20" /><Relationship Type="http://schemas.openxmlformats.org/officeDocument/2006/relationships/slideLayout" Target="/ppt/slideLayouts/slideLayout3.xml" Id="R9d3c61389dd640fa" /><Relationship Type="http://schemas.openxmlformats.org/officeDocument/2006/relationships/slideLayout" Target="/ppt/slideLayouts/slideLayout4.xml" Id="Re713bb7a0d6140c5" /><Relationship Type="http://schemas.openxmlformats.org/officeDocument/2006/relationships/slideLayout" Target="/ppt/slideLayouts/slideLayout5.xml" Id="Rdf0d3c0494454fcd" /><Relationship Type="http://schemas.openxmlformats.org/officeDocument/2006/relationships/slideLayout" Target="/ppt/slideLayouts/slideLayout6.xml" Id="R93f1c4efdeae46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2d35a16c2a45fb"/>
    <p:sldLayoutId xmlns:r="http://schemas.openxmlformats.org/officeDocument/2006/relationships" id="2147483650" r:id="Ra97298dc21234f20"/>
    <p:sldLayoutId xmlns:r="http://schemas.openxmlformats.org/officeDocument/2006/relationships" id="2147483651" r:id="R9d3c61389dd640fa"/>
    <p:sldLayoutId xmlns:r="http://schemas.openxmlformats.org/officeDocument/2006/relationships" id="2147483652" r:id="Re713bb7a0d6140c5"/>
    <p:sldLayoutId xmlns:r="http://schemas.openxmlformats.org/officeDocument/2006/relationships" id="2147483653" r:id="Rdf0d3c0494454fcd"/>
    <p:sldLayoutId xmlns:r="http://schemas.openxmlformats.org/officeDocument/2006/relationships" id="2147483654" r:id="R93f1c4efdeae46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d1228a9144f4545" /><Relationship Type="http://schemas.openxmlformats.org/officeDocument/2006/relationships/notesSlide" Target="/ppt/notesSlides/notesSlide1.xml" Id="R7079fe05a0ff49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bd1bdd345574271" /><Relationship Type="http://schemas.openxmlformats.org/officeDocument/2006/relationships/notesSlide" Target="/ppt/notesSlides/notesSlide2.xml" Id="R9d20541967424f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4ec5dc93114784" /><Relationship Type="http://schemas.openxmlformats.org/officeDocument/2006/relationships/notesSlide" Target="/ppt/notesSlides/notesSlide3.xml" Id="Ra6cccc4ea10941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11b37e27e7a4c67" /><Relationship Type="http://schemas.openxmlformats.org/officeDocument/2006/relationships/notesSlide" Target="/ppt/notesSlides/notesSlide4.xml" Id="R0e9465fbc2514f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1d7c188e744c5a" /><Relationship Type="http://schemas.openxmlformats.org/officeDocument/2006/relationships/notesSlide" Target="/ppt/notesSlides/notesSlide5.xml" Id="R300c74266dd74d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b44e490af6c4be8" /><Relationship Type="http://schemas.openxmlformats.org/officeDocument/2006/relationships/notesSlide" Target="/ppt/notesSlides/notesSlide6.xml" Id="R847ea76e9f1140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ca475240b3e4f2f" /><Relationship Type="http://schemas.openxmlformats.org/officeDocument/2006/relationships/chart" Target="/ppt/slides/charts/chart1.xml" Id="R5d955a8911ac4be8" /><Relationship Type="http://schemas.openxmlformats.org/officeDocument/2006/relationships/notesSlide" Target="/ppt/notesSlides/notesSlide7.xml" Id="R27e9d606eff049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34ac9f78eef4f2a" /><Relationship Type="http://schemas.openxmlformats.org/officeDocument/2006/relationships/chart" Target="/ppt/slides/charts/chart2.xml" Id="Rf0d336f487d542d3" /><Relationship Type="http://schemas.openxmlformats.org/officeDocument/2006/relationships/notesSlide" Target="/ppt/notesSlides/notesSlide8.xml" Id="R2e47e17ca7344d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ea6c27b483a4562" /><Relationship Type="http://schemas.openxmlformats.org/officeDocument/2006/relationships/image" Target="/ppt/media/image.jpeg" Id="R54d02e5f285c435d" /><Relationship Type="http://schemas.openxmlformats.org/officeDocument/2006/relationships/notesSlide" Target="/ppt/notesSlides/notesSlide9.xml" Id="R82d4724bb8cf47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4ccd4e516ef4da1" /><Relationship Type="http://schemas.openxmlformats.org/officeDocument/2006/relationships/image" Target="/ppt/media/image2.jpeg" Id="Rf6b61072f14240b9" /><Relationship Type="http://schemas.openxmlformats.org/officeDocument/2006/relationships/notesSlide" Target="/ppt/notesSlides/notesSlide10.xml" Id="Re1394d4a3c3042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481b0f3c7a4cad" /><Relationship Type="http://schemas.openxmlformats.org/officeDocument/2006/relationships/notesSlide" Target="/ppt/notesSlides/notesSlide11.xml" Id="R488564809e504c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8638bfe34a74dd7" /><Relationship Type="http://schemas.openxmlformats.org/officeDocument/2006/relationships/notesSlide" Target="/ppt/notesSlides/notesSlide12.xml" Id="R11ace89f347946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6e35897009f4292" /><Relationship Type="http://schemas.openxmlformats.org/officeDocument/2006/relationships/notesSlide" Target="/ppt/notesSlides/notesSlide13.xml" Id="Rac4d4b792daa4e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fa5bac6a59a4a7e" /><Relationship Type="http://schemas.openxmlformats.org/officeDocument/2006/relationships/notesSlide" Target="/ppt/notesSlides/notesSlide14.xml" Id="Rbdcb9460e2d243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03b3cb21b99400c" /><Relationship Type="http://schemas.openxmlformats.org/officeDocument/2006/relationships/notesSlide" Target="/ppt/notesSlides/notesSlide15.xml" Id="Ra15e6a9e20d14d6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d10304241174686" /><Relationship Type="http://schemas.openxmlformats.org/officeDocument/2006/relationships/notesSlide" Target="/ppt/notesSlides/notesSlide16.xml" Id="Ra5fcabdb18d0469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Measured outcomes</c:v>
          </c:tx>
          <c:spPr>
            <a:solidFill xmlns:a="http://schemas.openxmlformats.org/drawingml/2006/main">
              <a:srgbClr val="17647B"/>
            </a:solidFill>
          </c:spPr>
          <c:invertIfNegative val="0"/>
          <c:cat>
            <c:strRef>
              <c:f>'Chart Data'!$A$2:$A$4</c:f>
              <c:strCache>
                <c:ptCount val="3"/>
                <c:pt idx="0">
                  <c:v>Valid answers</c:v>
                </c:pt>
                <c:pt idx="1">
                  <c:v>Abstentions</c:v>
                </c:pt>
                <c:pt idx="2">
                  <c:v>Generation failures</c:v>
                </c:pt>
              </c:strCache>
            </c:strRef>
          </c:cat>
          <c:val>
            <c:numRef>
              <c:f>'Chart Data'!$B$2:$B$4</c:f>
              <c:numCache>
                <c:formatCode>0</c:formatCode>
                <c:ptCount val="3"/>
                <c:pt idx="0">
                  <c:v>210</c:v>
                </c:pt>
                <c:pt idx="1">
                  <c:v>15</c:v>
                </c:pt>
                <c:pt idx="2">
                  <c:v>15</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5374B"/>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5374B"/>
                </a:solidFill>
                <a:latin typeface="Arial"/>
                <a:ea typeface="Arial"/>
                <a:cs typeface="Arial"/>
              </a:defRPr>
            </a:pPr>
          </a:p>
        </c:txPr>
        <c:crossAx val="48672768"/>
      </c:catAx>
      <c:valAx>
        <c:axId val="48672768"/>
        <c:scaling>
          <c:orientation val="minMax"/>
          <c:max val="240"/>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06476"/>
                </a:solidFill>
                <a:latin typeface="Arial"/>
                <a:ea typeface="Arial"/>
                <a:cs typeface="Arial"/>
              </a:defRPr>
            </a:pPr>
          </a:p>
        </c:txPr>
        <c:crossAx val="48650112"/>
        <c:crossBetween val="between"/>
        <c:majorUnit val="6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Exact scoped agreement (rounded to 4 decimals)</c:v>
          </c:tx>
          <c:spPr>
            <a:solidFill xmlns:a="http://schemas.openxmlformats.org/drawingml/2006/main">
              <a:srgbClr val="17647B"/>
            </a:solidFill>
          </c:spPr>
          <c:invertIfNegative val="0"/>
          <c:cat>
            <c:strRef>
              <c:f>'Chart Data'!$A$2:$A$4</c:f>
              <c:strCache>
                <c:ptCount val="3"/>
                <c:pt idx="0">
                  <c:v>Precision</c:v>
                </c:pt>
                <c:pt idx="1">
                  <c:v>Recall</c:v>
                </c:pt>
                <c:pt idx="2">
                  <c:v>F1</c:v>
                </c:pt>
              </c:strCache>
            </c:strRef>
          </c:cat>
          <c:val>
            <c:numRef>
              <c:f>'Chart Data'!$B$2:$B$4</c:f>
              <c:numCache>
                <c:formatCode>0.0</c:formatCode>
                <c:ptCount val="3"/>
                <c:pt idx="0">
                  <c:v>0.4545</c:v>
                </c:pt>
                <c:pt idx="1">
                  <c:v>0.0671</c:v>
                </c:pt>
                <c:pt idx="2">
                  <c:v>0.117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15374B"/>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5374B"/>
                </a:solidFill>
                <a:latin typeface="Arial"/>
                <a:ea typeface="Arial"/>
                <a:cs typeface="Arial"/>
              </a:defRPr>
            </a:pPr>
          </a:p>
        </c:txPr>
        <c:crossAx val="48672768"/>
      </c:catAx>
      <c:valAx>
        <c:axId val="48672768"/>
        <c:scaling>
          <c:orientation val="minMax"/>
          <c:max val="1"/>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06476"/>
                </a:solidFill>
                <a:latin typeface="Arial"/>
                <a:ea typeface="Arial"/>
                <a:cs typeface="Arial"/>
              </a:defRPr>
            </a:pPr>
          </a:p>
        </c:txPr>
        <c:crossAx val="48650112"/>
        <c:crossBetween val="between"/>
        <c:majorUnit val="0.2"/>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7978944-3ED1-4237-9FF0-504E90F61DF1}"/>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FINAL PROJECT / CS 6338</a:t>
            </a:r>
          </a:p>
        </p:txBody>
      </p:sp>
      <p:sp>
        <p:nvSpPr>
          <p:cNvPr id="2" name="text-1">
            <a:extLst xmlns:a="http://schemas.openxmlformats.org/drawingml/2006/main">
              <a:ext uri="{FF2B5EF4-FFF2-40B4-BE49-F238E27FC236}">
                <a16:creationId xmlns:a16="http://schemas.microsoft.com/office/drawing/2014/main" id="{B2FCD713-D8E7-4574-B6B9-C85095E44BAA}"/>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ThreatWeave</a:t>
            </a:r>
          </a:p>
        </p:txBody>
      </p:sp>
      <p:sp>
        <p:nvSpPr>
          <p:cNvPr id="3" name="text-2">
            <a:extLst xmlns:a="http://schemas.openxmlformats.org/drawingml/2006/main">
              <a:ext uri="{FF2B5EF4-FFF2-40B4-BE49-F238E27FC236}">
                <a16:creationId xmlns:a16="http://schemas.microsoft.com/office/drawing/2014/main" id="{045C13FA-D870-4757-847B-7C0AE389544C}"/>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65A38F3D-8154-4A8B-8D1B-F68103CAD8C1}"/>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01</a:t>
            </a:r>
          </a:p>
        </p:txBody>
      </p:sp>
      <p:sp>
        <p:nvSpPr>
          <p:cNvPr id="5" name="text-4">
            <a:extLst xmlns:a="http://schemas.openxmlformats.org/drawingml/2006/main">
              <a:ext uri="{FF2B5EF4-FFF2-40B4-BE49-F238E27FC236}">
                <a16:creationId xmlns:a16="http://schemas.microsoft.com/office/drawing/2014/main" id="{E8EC57A9-7481-4B34-8BD4-79C7BC2DEBDF}"/>
              </a:ext>
            </a:extLst>
          </p:cNvPr>
          <p:cNvSpPr>
            <a:spLocks xmlns:a="http://schemas.openxmlformats.org/drawingml/2006/main" noGrp="1"/>
          </p:cNvSpPr>
          <p:nvPr/>
        </p:nvSpPr>
        <p:spPr>
          <a:xfrm xmlns:a="http://schemas.openxmlformats.org/drawingml/2006/main">
            <a:off x="609600" y="2333625"/>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600" b="0">
                <a:solidFill>
                  <a:srgbClr val="17647B"/>
                </a:solidFill>
                <a:latin typeface="Arial"/>
                <a:ea typeface="Arial"/>
                <a:cs typeface="Arial"/>
              </a:defRPr>
            </a:defPPr>
          </a:lstStyle>
          <a:p xmlns:a="http://schemas.openxmlformats.org/drawingml/2006/main">
            <a:pPr>
              <a:defRPr sz="3600" b="0">
                <a:solidFill>
                  <a:srgbClr val="17647B"/>
                </a:solidFill>
                <a:latin typeface="Arial"/>
                <a:ea typeface="Arial"/>
                <a:cs typeface="Arial"/>
              </a:defRPr>
            </a:pPr>
            <a:r>
              <a:rPr sz="3600" b="0">
                <a:solidFill>
                  <a:srgbClr val="17647B"/>
                </a:solidFill>
                <a:latin typeface="Arial"/>
                <a:ea typeface="Arial"/>
                <a:cs typeface="Arial"/>
              </a:rPr>
              <a:t>Evidence-grounded cybersecurity</a:t>
            </a:r>
          </a:p>
          <a:p xmlns:a="http://schemas.openxmlformats.org/drawingml/2006/main">
            <a:pPr>
              <a:defRPr sz="3600" b="0">
                <a:solidFill>
                  <a:srgbClr val="17647B"/>
                </a:solidFill>
                <a:latin typeface="Arial"/>
                <a:ea typeface="Arial"/>
                <a:cs typeface="Arial"/>
              </a:defRPr>
            </a:pPr>
            <a:r>
              <a:rPr sz="3600" b="0">
                <a:solidFill>
                  <a:srgbClr val="17647B"/>
                </a:solidFill>
                <a:latin typeface="Arial"/>
                <a:ea typeface="Arial"/>
                <a:cs typeface="Arial"/>
              </a:rPr>
              <a:t>question answering with GraphRAG</a:t>
            </a:r>
          </a:p>
        </p:txBody>
      </p:sp>
      <p:sp>
        <p:nvSpPr>
          <p:cNvPr id="6" name="text-5">
            <a:extLst xmlns:a="http://schemas.openxmlformats.org/drawingml/2006/main">
              <a:ext uri="{FF2B5EF4-FFF2-40B4-BE49-F238E27FC236}">
                <a16:creationId xmlns:a16="http://schemas.microsoft.com/office/drawing/2014/main" id="{569A25E6-0689-4D44-9401-9371AE1AFD8F}"/>
              </a:ext>
            </a:extLst>
          </p:cNvPr>
          <p:cNvSpPr>
            <a:spLocks xmlns:a="http://schemas.openxmlformats.org/drawingml/2006/main" noGrp="1"/>
          </p:cNvSpPr>
          <p:nvPr/>
        </p:nvSpPr>
        <p:spPr>
          <a:xfrm xmlns:a="http://schemas.openxmlformats.org/drawingml/2006/main">
            <a:off x="609600" y="43815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15374B"/>
                </a:solidFill>
                <a:latin typeface="Arial"/>
                <a:ea typeface="Arial"/>
                <a:cs typeface="Arial"/>
              </a:defRPr>
            </a:defPPr>
          </a:lstStyle>
          <a:p xmlns:a="http://schemas.openxmlformats.org/drawingml/2006/main">
            <a:pPr>
              <a:defRPr sz="2100" b="0">
                <a:solidFill>
                  <a:srgbClr val="15374B"/>
                </a:solidFill>
                <a:latin typeface="Arial"/>
                <a:ea typeface="Arial"/>
                <a:cs typeface="Arial"/>
              </a:defRPr>
            </a:pPr>
            <a:r>
              <a:rPr sz="2100" b="0">
                <a:solidFill>
                  <a:srgbClr val="15374B"/>
                </a:solidFill>
                <a:latin typeface="Arial"/>
                <a:ea typeface="Arial"/>
                <a:cs typeface="Arial"/>
              </a:rPr>
              <a:t>Local model. Source passages. Inspectable graph paths.</a:t>
            </a:r>
          </a:p>
        </p:txBody>
      </p:sp>
      <p:sp>
        <p:nvSpPr>
          <p:cNvPr id="7" name="text-6">
            <a:extLst xmlns:a="http://schemas.openxmlformats.org/drawingml/2006/main">
              <a:ext uri="{FF2B5EF4-FFF2-40B4-BE49-F238E27FC236}">
                <a16:creationId xmlns:a16="http://schemas.microsoft.com/office/drawing/2014/main" id="{180E52D2-5D7F-43C9-9F15-7AB5F5983930}"/>
              </a:ext>
            </a:extLst>
          </p:cNvPr>
          <p:cNvSpPr>
            <a:spLocks xmlns:a="http://schemas.openxmlformats.org/drawingml/2006/main" noGrp="1"/>
          </p:cNvSpPr>
          <p:nvPr/>
        </p:nvSpPr>
        <p:spPr>
          <a:xfrm xmlns:a="http://schemas.openxmlformats.org/drawingml/2006/main">
            <a:off x="609600" y="55626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506476"/>
                </a:solidFill>
                <a:latin typeface="Arial"/>
                <a:ea typeface="Arial"/>
                <a:cs typeface="Arial"/>
              </a:defRPr>
            </a:defPPr>
          </a:lstStyle>
          <a:p xmlns:a="http://schemas.openxmlformats.org/drawingml/2006/main">
            <a:pPr>
              <a:defRPr sz="1725" b="0">
                <a:solidFill>
                  <a:srgbClr val="506476"/>
                </a:solidFill>
                <a:latin typeface="Arial"/>
                <a:ea typeface="Arial"/>
                <a:cs typeface="Arial"/>
              </a:defRPr>
            </a:pPr>
            <a:r>
              <a:rPr sz="1725" b="0">
                <a:solidFill>
                  <a:srgbClr val="506476"/>
                </a:solidFill>
                <a:latin typeface="Arial"/>
                <a:ea typeface="Arial"/>
                <a:cs typeface="Arial"/>
              </a:rPr>
              <a:t>Final evaluation: October 16, 2026</a:t>
            </a:r>
          </a:p>
        </p:txBody>
      </p:sp>
    </p:spTree>
    <p:extLst>
      <p:ext uri="{BB962C8B-B14F-4D97-AF65-F5344CB8AC3E}">
        <p14:creationId xmlns:p14="http://schemas.microsoft.com/office/powerpoint/2010/main" val="1034931413"/>
      </p:ext>
    </p:extLst>
  </p:cSld>
</p:sld>
</file>

<file path=ppt/slides/slide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BAB906C2-52BF-4A2A-85DA-5F641312E047}"/>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D866102D-5099-4CF4-9920-E08AEA7626BC}"/>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Every link needs its own source support</a:t>
            </a:r>
          </a:p>
        </p:txBody>
      </p:sp>
      <p:sp>
        <p:nvSpPr>
          <p:cNvPr id="3" name="text-2">
            <a:extLst xmlns:a="http://schemas.openxmlformats.org/drawingml/2006/main">
              <a:ext uri="{FF2B5EF4-FFF2-40B4-BE49-F238E27FC236}">
                <a16:creationId xmlns:a16="http://schemas.microsoft.com/office/drawing/2014/main" id="{2D47EF2B-4131-428A-B796-C11E47E6BDDA}"/>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B2C7BC27-9F55-4EB0-AE9C-80C10C288E86}"/>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02</a:t>
            </a:r>
          </a:p>
        </p:txBody>
      </p:sp>
      <p:sp>
        <p:nvSpPr>
          <p:cNvPr id="5" name="text-4">
            <a:extLst xmlns:a="http://schemas.openxmlformats.org/drawingml/2006/main">
              <a:ext uri="{FF2B5EF4-FFF2-40B4-BE49-F238E27FC236}">
                <a16:creationId xmlns:a16="http://schemas.microsoft.com/office/drawing/2014/main" id="{A1B51F09-6E12-4583-919D-BA8D02DE9E03}"/>
              </a:ext>
            </a:extLst>
          </p:cNvPr>
          <p:cNvSpPr>
            <a:spLocks xmlns:a="http://schemas.openxmlformats.org/drawingml/2006/main" noGrp="1"/>
          </p:cNvSpPr>
          <p:nvPr/>
        </p:nvSpPr>
        <p:spPr>
          <a:xfrm xmlns:a="http://schemas.openxmlformats.org/drawingml/2006/main">
            <a:off x="609600" y="2143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17647B"/>
                </a:solidFill>
                <a:latin typeface="Arial"/>
                <a:ea typeface="Arial"/>
                <a:cs typeface="Arial"/>
              </a:defRPr>
            </a:defPPr>
          </a:lstStyle>
          <a:p xmlns:a="http://schemas.openxmlformats.org/drawingml/2006/main">
            <a:pPr>
              <a:defRPr sz="2175" b="1">
                <a:solidFill>
                  <a:srgbClr val="17647B"/>
                </a:solidFill>
                <a:latin typeface="Arial"/>
                <a:ea typeface="Arial"/>
                <a:cs typeface="Arial"/>
              </a:defRPr>
            </a:pPr>
            <a:r>
              <a:rPr sz="2175" b="1">
                <a:solidFill>
                  <a:srgbClr val="17647B"/>
                </a:solidFill>
                <a:latin typeface="Arial"/>
                <a:ea typeface="Arial"/>
                <a:cs typeface="Arial"/>
              </a:rPr>
              <a:t>Advisory observations</a:t>
            </a:r>
          </a:p>
        </p:txBody>
      </p:sp>
      <p:sp>
        <p:nvSpPr>
          <p:cNvPr id="6" name="text-5">
            <a:extLst xmlns:a="http://schemas.openxmlformats.org/drawingml/2006/main">
              <a:ext uri="{FF2B5EF4-FFF2-40B4-BE49-F238E27FC236}">
                <a16:creationId xmlns:a16="http://schemas.microsoft.com/office/drawing/2014/main" id="{C194E13E-F59D-4676-BEB8-F0F485A3DA8D}"/>
              </a:ext>
            </a:extLst>
          </p:cNvPr>
          <p:cNvSpPr>
            <a:spLocks xmlns:a="http://schemas.openxmlformats.org/drawingml/2006/main" noGrp="1"/>
          </p:cNvSpPr>
          <p:nvPr/>
        </p:nvSpPr>
        <p:spPr>
          <a:xfrm xmlns:a="http://schemas.openxmlformats.org/drawingml/2006/main">
            <a:off x="609600" y="26765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15374B"/>
                </a:solidFill>
                <a:latin typeface="Arial"/>
                <a:ea typeface="Arial"/>
                <a:cs typeface="Arial"/>
              </a:defRPr>
            </a:defPPr>
          </a:lstStyle>
          <a:p xmlns:a="http://schemas.openxmlformats.org/drawingml/2006/main">
            <a:pPr>
              <a:defRPr sz="2100" b="0">
                <a:solidFill>
                  <a:srgbClr val="15374B"/>
                </a:solidFill>
                <a:latin typeface="Arial"/>
                <a:ea typeface="Arial"/>
                <a:cs typeface="Arial"/>
              </a:defRPr>
            </a:pPr>
            <a:r>
              <a:rPr sz="2100" b="0">
                <a:solidFill>
                  <a:srgbClr val="15374B"/>
                </a:solidFill>
                <a:latin typeface="Arial"/>
                <a:ea typeface="Arial"/>
                <a:cs typeface="Arial"/>
              </a:rPr>
              <a:t>Which actor used which software, and what technique did that report cite?</a:t>
            </a:r>
          </a:p>
        </p:txBody>
      </p:sp>
      <p:sp>
        <p:nvSpPr>
          <p:cNvPr id="7" name="text-6">
            <a:extLst xmlns:a="http://schemas.openxmlformats.org/drawingml/2006/main">
              <a:ext uri="{FF2B5EF4-FFF2-40B4-BE49-F238E27FC236}">
                <a16:creationId xmlns:a16="http://schemas.microsoft.com/office/drawing/2014/main" id="{AB9A9439-01B5-4927-BA48-5A0A5F75903E}"/>
              </a:ext>
            </a:extLst>
          </p:cNvPr>
          <p:cNvSpPr>
            <a:spLocks xmlns:a="http://schemas.openxmlformats.org/drawingml/2006/main" noGrp="1"/>
          </p:cNvSpPr>
          <p:nvPr/>
        </p:nvSpPr>
        <p:spPr>
          <a:xfrm xmlns:a="http://schemas.openxmlformats.org/drawingml/2006/main">
            <a:off x="609600" y="40005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17647B"/>
                </a:solidFill>
                <a:latin typeface="Arial"/>
                <a:ea typeface="Arial"/>
                <a:cs typeface="Arial"/>
              </a:defRPr>
            </a:defPPr>
          </a:lstStyle>
          <a:p xmlns:a="http://schemas.openxmlformats.org/drawingml/2006/main">
            <a:pPr>
              <a:defRPr sz="2175" b="1">
                <a:solidFill>
                  <a:srgbClr val="17647B"/>
                </a:solidFill>
                <a:latin typeface="Arial"/>
                <a:ea typeface="Arial"/>
                <a:cs typeface="Arial"/>
              </a:defRPr>
            </a:pPr>
            <a:r>
              <a:rPr sz="2175" b="1">
                <a:solidFill>
                  <a:srgbClr val="17647B"/>
                </a:solidFill>
                <a:latin typeface="Arial"/>
                <a:ea typeface="Arial"/>
                <a:cs typeface="Arial"/>
              </a:rPr>
              <a:t>ATT&amp;CK reference guidance</a:t>
            </a:r>
          </a:p>
        </p:txBody>
      </p:sp>
      <p:sp>
        <p:nvSpPr>
          <p:cNvPr id="8" name="text-7">
            <a:extLst xmlns:a="http://schemas.openxmlformats.org/drawingml/2006/main">
              <a:ext uri="{FF2B5EF4-FFF2-40B4-BE49-F238E27FC236}">
                <a16:creationId xmlns:a16="http://schemas.microsoft.com/office/drawing/2014/main" id="{E67AD1C6-7A2B-41F2-B5C5-C79A533E6B99}"/>
              </a:ext>
            </a:extLst>
          </p:cNvPr>
          <p:cNvSpPr>
            <a:spLocks xmlns:a="http://schemas.openxmlformats.org/drawingml/2006/main" noGrp="1"/>
          </p:cNvSpPr>
          <p:nvPr/>
        </p:nvSpPr>
        <p:spPr>
          <a:xfrm xmlns:a="http://schemas.openxmlformats.org/drawingml/2006/main">
            <a:off x="609600" y="45339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15374B"/>
                </a:solidFill>
                <a:latin typeface="Arial"/>
                <a:ea typeface="Arial"/>
                <a:cs typeface="Arial"/>
              </a:defRPr>
            </a:defPPr>
          </a:lstStyle>
          <a:p xmlns:a="http://schemas.openxmlformats.org/drawingml/2006/main">
            <a:pPr>
              <a:defRPr sz="2100" b="0">
                <a:solidFill>
                  <a:srgbClr val="15374B"/>
                </a:solidFill>
                <a:latin typeface="Arial"/>
                <a:ea typeface="Arial"/>
                <a:cs typeface="Arial"/>
              </a:defRPr>
            </a:pPr>
            <a:r>
              <a:rPr sz="2100" b="0">
                <a:solidFill>
                  <a:srgbClr val="15374B"/>
                </a:solidFill>
                <a:latin typeface="Arial"/>
                <a:ea typeface="Arial"/>
                <a:cs typeface="Arial"/>
              </a:rPr>
              <a:t>Which direct mitigation associations exist in the frozen 17.1 reference?</a:t>
            </a:r>
          </a:p>
        </p:txBody>
      </p:sp>
      <p:sp>
        <p:nvSpPr>
          <p:cNvPr id="9" name="text-8">
            <a:extLst xmlns:a="http://schemas.openxmlformats.org/drawingml/2006/main">
              <a:ext uri="{FF2B5EF4-FFF2-40B4-BE49-F238E27FC236}">
                <a16:creationId xmlns:a16="http://schemas.microsoft.com/office/drawing/2014/main" id="{F54E88CA-2D42-4F8B-986F-918EDDE76004}"/>
              </a:ext>
            </a:extLst>
          </p:cNvPr>
          <p:cNvSpPr>
            <a:spLocks xmlns:a="http://schemas.openxmlformats.org/drawingml/2006/main" noGrp="1"/>
          </p:cNvSpPr>
          <p:nvPr/>
        </p:nvSpPr>
        <p:spPr>
          <a:xfrm xmlns:a="http://schemas.openxmlformats.org/drawingml/2006/main">
            <a:off x="609600" y="56959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506476"/>
                </a:solidFill>
                <a:latin typeface="Arial"/>
                <a:ea typeface="Arial"/>
                <a:cs typeface="Arial"/>
              </a:defRPr>
            </a:defPPr>
          </a:lstStyle>
          <a:p xmlns:a="http://schemas.openxmlformats.org/drawingml/2006/main">
            <a:pPr>
              <a:defRPr sz="1725" b="0">
                <a:solidFill>
                  <a:srgbClr val="506476"/>
                </a:solidFill>
                <a:latin typeface="Arial"/>
                <a:ea typeface="Arial"/>
                <a:cs typeface="Arial"/>
              </a:defRPr>
            </a:pPr>
            <a:r>
              <a:rPr sz="1725" b="0">
                <a:solidFill>
                  <a:srgbClr val="506476"/>
                </a:solidFill>
                <a:latin typeface="Arial"/>
                <a:ea typeface="Arial"/>
                <a:cs typeface="Arial"/>
              </a:rPr>
              <a:t>A citation identifies supplied evidence. Review still determines whether it supports the claim.</a:t>
            </a:r>
          </a:p>
        </p:txBody>
      </p:sp>
    </p:spTree>
    <p:extLst>
      <p:ext uri="{BB962C8B-B14F-4D97-AF65-F5344CB8AC3E}">
        <p14:creationId xmlns:p14="http://schemas.microsoft.com/office/powerpoint/2010/main" val="1350945196"/>
      </p:ext>
    </p:extLst>
  </p:cSld>
</p:sld>
</file>

<file path=ppt/slides/slide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F3EC7AC-9CF3-4867-A517-BE03B001CF6A}"/>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ED44852D-04D8-4438-848D-F1E6A176A961}"/>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The pipeline preserves source context</a:t>
            </a:r>
          </a:p>
        </p:txBody>
      </p:sp>
      <p:sp>
        <p:nvSpPr>
          <p:cNvPr id="3" name="text-2">
            <a:extLst xmlns:a="http://schemas.openxmlformats.org/drawingml/2006/main">
              <a:ext uri="{FF2B5EF4-FFF2-40B4-BE49-F238E27FC236}">
                <a16:creationId xmlns:a16="http://schemas.microsoft.com/office/drawing/2014/main" id="{749B4E90-93D8-4397-9034-673B5872E03A}"/>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94864945-50C4-48FF-BFEC-38555FC1DC46}"/>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A9FC3462-5A17-44DD-8C41-FB66B87F75FE}"/>
              </a:ext>
            </a:extLst>
          </p:cNvPr>
          <p:cNvGraphicFramePr/>
          <p:nvPr/>
        </p:nvGraphicFramePr>
        <p:xfrm>
          <a:off xmlns:a="http://schemas.openxmlformats.org/drawingml/2006/main" x="609600" y="2038350"/>
          <a:ext xmlns:a="http://schemas.openxmlformats.org/drawingml/2006/main" cx="10972800" cy="3562350"/>
        </p:xfrm>
        <a:graphic xmlns:a="http://schemas.openxmlformats.org/drawingml/2006/main">
          <a:graphicData uri="http://schemas.openxmlformats.org/drawingml/2006/table">
            <a:tbl>
              <a:tblPr/>
              <a:tblGrid>
                <a:gridCol w="2857500"/>
                <a:gridCol w="8115300"/>
              </a:tblGrid>
              <a:tr h="593725">
                <a:tc>
                  <a:txBody>
                    <a:bodyPr/>
                    <a:lstStyle/>
                    <a:p>
                      <a:r>
                        <a:rPr sz="1800" b="1">
                          <a:solidFill>
                            <a:srgbClr val="FFFFFF"/>
                          </a:solidFill>
                          <a:latin typeface="Arial"/>
                          <a:ea typeface="Arial"/>
                          <a:cs typeface="Arial"/>
                        </a:rPr>
                        <a:t>Stage</a:t>
                      </a:r>
                    </a:p>
                  </a:txBody>
                  <a:tcPr marL="133350" marR="133350" marT="95250" marB="95250" anchor="ctr">
                    <a:lnL w="5715">
                      <a:solidFill>
                        <a:srgbClr val="D5E0E6"/>
                      </a:solidFill>
                      <a:prstDash val="solid"/>
                    </a:lnL>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800" b="1">
                          <a:solidFill>
                            <a:srgbClr val="FFFFFF"/>
                          </a:solidFill>
                          <a:latin typeface="Arial"/>
                          <a:ea typeface="Arial"/>
                          <a:cs typeface="Arial"/>
                        </a:rPr>
                        <a:t>Result retained</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r>
              <a:tr h="593725">
                <a:tc>
                  <a:txBody>
                    <a:bodyPr/>
                    <a:lstStyle/>
                    <a:p>
                      <a:r>
                        <a:rPr sz="1800">
                          <a:solidFill>
                            <a:srgbClr val="15374B"/>
                          </a:solidFill>
                          <a:latin typeface="Arial"/>
                          <a:ea typeface="Arial"/>
                          <a:cs typeface="Arial"/>
                        </a:rPr>
                        <a:t>Prepare and extract</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Frozen spans, table context and validated candidate assertions</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593725">
                <a:tc>
                  <a:txBody>
                    <a:bodyPr/>
                    <a:lstStyle/>
                    <a:p>
                      <a:r>
                        <a:rPr sz="1800">
                          <a:solidFill>
                            <a:srgbClr val="15374B"/>
                          </a:solidFill>
                          <a:latin typeface="Arial"/>
                          <a:ea typeface="Arial"/>
                          <a:cs typeface="Arial"/>
                        </a:rPr>
                        <a:t>Resolve and review</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Type-compatible identities and retained acceptance decisions</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r h="593725">
                <a:tc>
                  <a:txBody>
                    <a:bodyPr/>
                    <a:lstStyle/>
                    <a:p>
                      <a:r>
                        <a:rPr sz="1800">
                          <a:solidFill>
                            <a:srgbClr val="15374B"/>
                          </a:solidFill>
                          <a:latin typeface="Arial"/>
                          <a:ea typeface="Arial"/>
                          <a:cs typeface="Arial"/>
                        </a:rPr>
                        <a:t>Store and index</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Directed source facts plus separate text and graph vectors</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593725">
                <a:tc>
                  <a:txBody>
                    <a:bodyPr/>
                    <a:lstStyle/>
                    <a:p>
                      <a:r>
                        <a:rPr sz="1800">
                          <a:solidFill>
                            <a:srgbClr val="15374B"/>
                          </a:solidFill>
                          <a:latin typeface="Arial"/>
                          <a:ea typeface="Arial"/>
                          <a:cs typeface="Arial"/>
                        </a:rPr>
                        <a:t>Retrieve and generate</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Exact evidence pack, cited claims and terminal outcomes</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r h="593725">
                <a:tc>
                  <a:txBody>
                    <a:bodyPr/>
                    <a:lstStyle/>
                    <a:p>
                      <a:r>
                        <a:rPr sz="1800">
                          <a:solidFill>
                            <a:srgbClr val="15374B"/>
                          </a:solidFill>
                          <a:latin typeface="Arial"/>
                          <a:ea typeface="Arial"/>
                          <a:cs typeface="Arial"/>
                        </a:rPr>
                        <a:t>Inspect</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Source text, graph snapshot, run metadata and export</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bl>
          </a:graphicData>
        </a:graphic>
      </p:graphicFrame>
      <p:sp>
        <p:nvSpPr>
          <p:cNvPr id="6" name="text-4">
            <a:extLst xmlns:a="http://schemas.openxmlformats.org/drawingml/2006/main">
              <a:ext uri="{FF2B5EF4-FFF2-40B4-BE49-F238E27FC236}">
                <a16:creationId xmlns:a16="http://schemas.microsoft.com/office/drawing/2014/main" id="{F3B99598-1A96-4936-8E7B-B405D0C8F41D}"/>
              </a:ext>
            </a:extLst>
          </p:cNvPr>
          <p:cNvSpPr>
            <a:spLocks xmlns:a="http://schemas.openxmlformats.org/drawingml/2006/main" noGrp="1"/>
          </p:cNvSpPr>
          <p:nvPr/>
        </p:nvSpPr>
        <p:spPr>
          <a:xfrm xmlns:a="http://schemas.openxmlformats.org/drawingml/2006/main">
            <a:off x="609600" y="58388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17647B"/>
                </a:solidFill>
                <a:latin typeface="Arial"/>
                <a:ea typeface="Arial"/>
                <a:cs typeface="Arial"/>
              </a:defRPr>
            </a:defPPr>
          </a:lstStyle>
          <a:p xmlns:a="http://schemas.openxmlformats.org/drawingml/2006/main">
            <a:pPr>
              <a:defRPr sz="1875" b="1">
                <a:solidFill>
                  <a:srgbClr val="17647B"/>
                </a:solidFill>
                <a:latin typeface="Arial"/>
                <a:ea typeface="Arial"/>
                <a:cs typeface="Arial"/>
              </a:defRPr>
            </a:pPr>
            <a:r>
              <a:rPr sz="1875" b="1">
                <a:solidFill>
                  <a:srgbClr val="17647B"/>
                </a:solidFill>
                <a:latin typeface="Arial"/>
                <a:ea typeface="Arial"/>
                <a:cs typeface="Arial"/>
              </a:rPr>
              <a:t>Gold labels and reference answers enter scoring only.</a:t>
            </a:r>
          </a:p>
        </p:txBody>
      </p:sp>
    </p:spTree>
    <p:extLst>
      <p:ext uri="{BB962C8B-B14F-4D97-AF65-F5344CB8AC3E}">
        <p14:creationId xmlns:p14="http://schemas.microsoft.com/office/powerpoint/2010/main" val="1359844727"/>
      </p:ext>
    </p:extLst>
  </p:cSld>
</p:sld>
</file>

<file path=ppt/slides/slide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BB6CA56-151D-4AB9-9DFA-E10790B3C516}"/>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0471EC2A-4C6B-47BA-8366-7985104826B0}"/>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Both indexes share a frozen source scope</a:t>
            </a:r>
          </a:p>
        </p:txBody>
      </p:sp>
      <p:sp>
        <p:nvSpPr>
          <p:cNvPr id="3" name="text-2">
            <a:extLst xmlns:a="http://schemas.openxmlformats.org/drawingml/2006/main">
              <a:ext uri="{FF2B5EF4-FFF2-40B4-BE49-F238E27FC236}">
                <a16:creationId xmlns:a16="http://schemas.microsoft.com/office/drawing/2014/main" id="{05DB942A-C609-443D-A6AC-E3B16CA8AEE7}"/>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D150A1E3-6023-499B-8E7E-7329F4245324}"/>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28AE653C-6BED-4EBA-8A0F-026F6DA7590A}"/>
              </a:ext>
            </a:extLst>
          </p:cNvPr>
          <p:cNvGraphicFramePr/>
          <p:nvPr/>
        </p:nvGraphicFramePr>
        <p:xfrm>
          <a:off xmlns:a="http://schemas.openxmlformats.org/drawingml/2006/main" x="609600" y="2038350"/>
          <a:ext xmlns:a="http://schemas.openxmlformats.org/drawingml/2006/main" cx="10972800" cy="3209925"/>
        </p:xfrm>
        <a:graphic xmlns:a="http://schemas.openxmlformats.org/drawingml/2006/main">
          <a:graphicData uri="http://schemas.openxmlformats.org/drawingml/2006/table">
            <a:tbl>
              <a:tblPr/>
              <a:tblGrid>
                <a:gridCol w="8096250"/>
                <a:gridCol w="2876550"/>
              </a:tblGrid>
              <a:tr h="641985">
                <a:tc>
                  <a:txBody>
                    <a:bodyPr/>
                    <a:lstStyle/>
                    <a:p>
                      <a:r>
                        <a:rPr sz="2100" b="1">
                          <a:solidFill>
                            <a:srgbClr val="FFFFFF"/>
                          </a:solidFill>
                          <a:latin typeface="Arial"/>
                          <a:ea typeface="Arial"/>
                          <a:cs typeface="Arial"/>
                        </a:rPr>
                        <a:t>Evaluation asset</a:t>
                      </a:r>
                    </a:p>
                  </a:txBody>
                  <a:tcPr marL="133350" marR="133350" marT="95250" marB="95250" anchor="ctr">
                    <a:lnL w="5715">
                      <a:solidFill>
                        <a:srgbClr val="D5E0E6"/>
                      </a:solidFill>
                      <a:prstDash val="solid"/>
                    </a:lnL>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2100" b="1">
                          <a:solidFill>
                            <a:srgbClr val="FFFFFF"/>
                          </a:solidFill>
                          <a:latin typeface="Arial"/>
                          <a:ea typeface="Arial"/>
                          <a:cs typeface="Arial"/>
                        </a:rPr>
                        <a:t>Count</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r>
              <a:tr h="641985">
                <a:tc>
                  <a:txBody>
                    <a:bodyPr/>
                    <a:lstStyle/>
                    <a:p>
                      <a:r>
                        <a:rPr sz="2100">
                          <a:solidFill>
                            <a:srgbClr val="15374B"/>
                          </a:solidFill>
                          <a:latin typeface="Arial"/>
                          <a:ea typeface="Arial"/>
                          <a:cs typeface="Arial"/>
                        </a:rPr>
                        <a:t>CISA windows / ATT&amp;CK reference parents</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2100">
                          <a:solidFill>
                            <a:srgbClr val="15374B"/>
                          </a:solidFill>
                          <a:latin typeface="Arial"/>
                          <a:ea typeface="Arial"/>
                          <a:cs typeface="Arial"/>
                        </a:rPr>
                        <a:t>101 / 190</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641985">
                <a:tc>
                  <a:txBody>
                    <a:bodyPr/>
                    <a:lstStyle/>
                    <a:p>
                      <a:r>
                        <a:rPr sz="2100">
                          <a:solidFill>
                            <a:srgbClr val="15374B"/>
                          </a:solidFill>
                          <a:latin typeface="Arial"/>
                          <a:ea typeface="Arial"/>
                          <a:cs typeface="Arial"/>
                        </a:rPr>
                        <a:t>Text chunks / embedding dimensions</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2100">
                          <a:solidFill>
                            <a:srgbClr val="15374B"/>
                          </a:solidFill>
                          <a:latin typeface="Arial"/>
                          <a:ea typeface="Arial"/>
                          <a:cs typeface="Arial"/>
                        </a:rPr>
                        <a:t>510 / 384</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r h="641985">
                <a:tc>
                  <a:txBody>
                    <a:bodyPr/>
                    <a:lstStyle/>
                    <a:p>
                      <a:r>
                        <a:rPr sz="2100">
                          <a:solidFill>
                            <a:srgbClr val="15374B"/>
                          </a:solidFill>
                          <a:latin typeface="Arial"/>
                          <a:ea typeface="Arial"/>
                          <a:cs typeface="Arial"/>
                        </a:rPr>
                        <a:t>Domain nodes / directed facts</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2100">
                          <a:solidFill>
                            <a:srgbClr val="15374B"/>
                          </a:solidFill>
                          <a:latin typeface="Arial"/>
                          <a:ea typeface="Arial"/>
                          <a:cs typeface="Arial"/>
                        </a:rPr>
                        <a:t>212 / 394</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641985">
                <a:tc>
                  <a:txBody>
                    <a:bodyPr/>
                    <a:lstStyle/>
                    <a:p>
                      <a:r>
                        <a:rPr sz="2100">
                          <a:solidFill>
                            <a:srgbClr val="15374B"/>
                          </a:solidFill>
                          <a:latin typeface="Arial"/>
                          <a:ea typeface="Arial"/>
                          <a:cs typeface="Arial"/>
                        </a:rPr>
                        <a:t>Graph vectors / embedding dimensions</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2100">
                          <a:solidFill>
                            <a:srgbClr val="15374B"/>
                          </a:solidFill>
                          <a:latin typeface="Arial"/>
                          <a:ea typeface="Arial"/>
                          <a:cs typeface="Arial"/>
                        </a:rPr>
                        <a:t>212 / 128</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32D1DFA7-EF75-467B-A14F-DD52FCCB9E0E}"/>
              </a:ext>
            </a:extLst>
          </p:cNvPr>
          <p:cNvSpPr>
            <a:spLocks xmlns:a="http://schemas.openxmlformats.org/drawingml/2006/main" noGrp="1"/>
          </p:cNvSpPr>
          <p:nvPr/>
        </p:nvSpPr>
        <p:spPr>
          <a:xfrm xmlns:a="http://schemas.openxmlformats.org/drawingml/2006/main">
            <a:off x="609600" y="56197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506476"/>
                </a:solidFill>
                <a:latin typeface="Arial"/>
                <a:ea typeface="Arial"/>
                <a:cs typeface="Arial"/>
              </a:defRPr>
            </a:defPPr>
          </a:lstStyle>
          <a:p xmlns:a="http://schemas.openxmlformats.org/drawingml/2006/main">
            <a:pPr>
              <a:defRPr sz="1875" b="0">
                <a:solidFill>
                  <a:srgbClr val="506476"/>
                </a:solidFill>
                <a:latin typeface="Arial"/>
                <a:ea typeface="Arial"/>
                <a:cs typeface="Arial"/>
              </a:defRPr>
            </a:pPr>
            <a:r>
              <a:rPr sz="1875" b="0">
                <a:solidFill>
                  <a:srgbClr val="506476"/>
                </a:solidFill>
                <a:latin typeface="Arial"/>
                <a:ea typeface="Arial"/>
                <a:cs typeface="Arial"/>
              </a:rPr>
              <a:t>Scope-level development separation, with disclosed overlap between report snapshots.</a:t>
            </a:r>
          </a:p>
        </p:txBody>
      </p:sp>
    </p:spTree>
    <p:extLst>
      <p:ext uri="{BB962C8B-B14F-4D97-AF65-F5344CB8AC3E}">
        <p14:creationId xmlns:p14="http://schemas.microsoft.com/office/powerpoint/2010/main" val="1056074622"/>
      </p:ext>
    </p:extLst>
  </p:cSld>
</p:sld>
</file>

<file path=ppt/slides/slide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0599EB1-768E-4725-8DF9-BF592FA66E6F}"/>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AE9DEE75-72EF-4BB6-B3A1-EFE6E0DD9115}"/>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Four conditions use the same evidence scope</a:t>
            </a:r>
          </a:p>
        </p:txBody>
      </p:sp>
      <p:sp>
        <p:nvSpPr>
          <p:cNvPr id="3" name="text-2">
            <a:extLst xmlns:a="http://schemas.openxmlformats.org/drawingml/2006/main">
              <a:ext uri="{FF2B5EF4-FFF2-40B4-BE49-F238E27FC236}">
                <a16:creationId xmlns:a16="http://schemas.microsoft.com/office/drawing/2014/main" id="{B94C5478-E435-4E8D-A217-76033FF3D30C}"/>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C62313E9-52E0-4D0A-88FE-ACC52A2738F5}"/>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05</a:t>
            </a:r>
          </a:p>
        </p:txBody>
      </p:sp>
      <p:graphicFrame>
        <p:nvGraphicFramePr>
          <p:cNvPr id="5" name="">
            <a:extLst xmlns:a="http://schemas.openxmlformats.org/drawingml/2006/main">
              <a:ext uri="{FF2B5EF4-FFF2-40B4-BE49-F238E27FC236}">
                <a16:creationId xmlns:a16="http://schemas.microsoft.com/office/drawing/2014/main" id="{7314A8E5-ED00-47F6-AA5C-CC76D88D634E}"/>
              </a:ext>
            </a:extLst>
          </p:cNvPr>
          <p:cNvGraphicFramePr/>
          <p:nvPr/>
        </p:nvGraphicFramePr>
        <p:xfrm>
          <a:off xmlns:a="http://schemas.openxmlformats.org/drawingml/2006/main" x="609600" y="2038350"/>
          <a:ext xmlns:a="http://schemas.openxmlformats.org/drawingml/2006/main" cx="10972800" cy="3381375"/>
        </p:xfrm>
        <a:graphic xmlns:a="http://schemas.openxmlformats.org/drawingml/2006/main">
          <a:graphicData uri="http://schemas.openxmlformats.org/drawingml/2006/table">
            <a:tbl>
              <a:tblPr/>
              <a:tblGrid>
                <a:gridCol w="4000500"/>
                <a:gridCol w="6972300"/>
              </a:tblGrid>
              <a:tr h="676275">
                <a:tc>
                  <a:txBody>
                    <a:bodyPr/>
                    <a:lstStyle/>
                    <a:p>
                      <a:r>
                        <a:rPr sz="1875" b="1">
                          <a:solidFill>
                            <a:srgbClr val="FFFFFF"/>
                          </a:solidFill>
                          <a:latin typeface="Arial"/>
                          <a:ea typeface="Arial"/>
                          <a:cs typeface="Arial"/>
                        </a:rPr>
                        <a:t>Condition</a:t>
                      </a:r>
                    </a:p>
                  </a:txBody>
                  <a:tcPr marL="133350" marR="133350" marT="95250" marB="95250" anchor="ctr">
                    <a:lnL w="5715">
                      <a:solidFill>
                        <a:srgbClr val="D5E0E6"/>
                      </a:solidFill>
                      <a:prstDash val="solid"/>
                    </a:lnL>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875" b="1">
                          <a:solidFill>
                            <a:srgbClr val="FFFFFF"/>
                          </a:solidFill>
                          <a:latin typeface="Arial"/>
                          <a:ea typeface="Arial"/>
                          <a:cs typeface="Arial"/>
                        </a:rPr>
                        <a:t>Retrieval</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r>
              <a:tr h="676275">
                <a:tc>
                  <a:txBody>
                    <a:bodyPr/>
                    <a:lstStyle/>
                    <a:p>
                      <a:r>
                        <a:rPr sz="1875">
                          <a:solidFill>
                            <a:srgbClr val="15374B"/>
                          </a:solidFill>
                          <a:latin typeface="Arial"/>
                          <a:ea typeface="Arial"/>
                          <a:cs typeface="Arial"/>
                        </a:rPr>
                        <a:t>Text only</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875">
                          <a:solidFill>
                            <a:srgbClr val="15374B"/>
                          </a:solidFill>
                          <a:latin typeface="Arial"/>
                          <a:ea typeface="Arial"/>
                          <a:cs typeface="Arial"/>
                        </a:rPr>
                        <a:t>MiniLM source-chunk similarity</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676275">
                <a:tc>
                  <a:txBody>
                    <a:bodyPr/>
                    <a:lstStyle/>
                    <a:p>
                      <a:r>
                        <a:rPr sz="1875">
                          <a:solidFill>
                            <a:srgbClr val="15374B"/>
                          </a:solidFill>
                          <a:latin typeface="Arial"/>
                          <a:ea typeface="Arial"/>
                          <a:cs typeface="Arial"/>
                        </a:rPr>
                        <a:t>Graph only</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1875">
                          <a:solidFill>
                            <a:srgbClr val="15374B"/>
                          </a:solidFill>
                          <a:latin typeface="Arial"/>
                          <a:ea typeface="Arial"/>
                          <a:cs typeface="Arial"/>
                        </a:rPr>
                        <a:t>Accepted directed paths</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r h="676275">
                <a:tc>
                  <a:txBody>
                    <a:bodyPr/>
                    <a:lstStyle/>
                    <a:p>
                      <a:r>
                        <a:rPr sz="1875">
                          <a:solidFill>
                            <a:srgbClr val="15374B"/>
                          </a:solidFill>
                          <a:latin typeface="Arial"/>
                          <a:ea typeface="Arial"/>
                          <a:cs typeface="Arial"/>
                        </a:rPr>
                        <a:t>Hybrid without Node2Vec</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875">
                          <a:solidFill>
                            <a:srgbClr val="15374B"/>
                          </a:solidFill>
                          <a:latin typeface="Arial"/>
                          <a:ea typeface="Arial"/>
                          <a:cs typeface="Arial"/>
                        </a:rPr>
                        <a:t>Text and structural paths</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676275">
                <a:tc>
                  <a:txBody>
                    <a:bodyPr/>
                    <a:lstStyle/>
                    <a:p>
                      <a:r>
                        <a:rPr sz="1875">
                          <a:solidFill>
                            <a:srgbClr val="15374B"/>
                          </a:solidFill>
                          <a:latin typeface="Arial"/>
                          <a:ea typeface="Arial"/>
                          <a:cs typeface="Arial"/>
                        </a:rPr>
                        <a:t>Full hybrid</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1875">
                          <a:solidFill>
                            <a:srgbClr val="15374B"/>
                          </a:solidFill>
                          <a:latin typeface="Arial"/>
                          <a:ea typeface="Arial"/>
                          <a:cs typeface="Arial"/>
                        </a:rPr>
                        <a:t>Text, structural paths and graph-neighbor candidates</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84CCD678-493F-445D-892D-3347661389DA}"/>
              </a:ext>
            </a:extLst>
          </p:cNvPr>
          <p:cNvSpPr>
            <a:spLocks xmlns:a="http://schemas.openxmlformats.org/drawingml/2006/main" noGrp="1"/>
          </p:cNvSpPr>
          <p:nvPr/>
        </p:nvSpPr>
        <p:spPr>
          <a:xfrm xmlns:a="http://schemas.openxmlformats.org/drawingml/2006/main">
            <a:off x="609600" y="56959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506476"/>
                </a:solidFill>
                <a:latin typeface="Arial"/>
                <a:ea typeface="Arial"/>
                <a:cs typeface="Arial"/>
              </a:defRPr>
            </a:defPPr>
          </a:lstStyle>
          <a:p xmlns:a="http://schemas.openxmlformats.org/drawingml/2006/main">
            <a:pPr>
              <a:defRPr sz="1725" b="0">
                <a:solidFill>
                  <a:srgbClr val="506476"/>
                </a:solidFill>
                <a:latin typeface="Arial"/>
                <a:ea typeface="Arial"/>
                <a:cs typeface="Arial"/>
              </a:defRPr>
            </a:pPr>
            <a:r>
              <a:rPr sz="1725" b="0">
                <a:solidFill>
                  <a:srgbClr val="506476"/>
                </a:solidFill>
                <a:latin typeface="Arial"/>
                <a:ea typeface="Arial"/>
                <a:cs typeface="Arial"/>
              </a:rPr>
              <a:t>The MODE prompt field and evidence formats also differ. Retrieval-only causal attribution is limited.</a:t>
            </a:r>
          </a:p>
        </p:txBody>
      </p:sp>
    </p:spTree>
    <p:extLst>
      <p:ext uri="{BB962C8B-B14F-4D97-AF65-F5344CB8AC3E}">
        <p14:creationId xmlns:p14="http://schemas.microsoft.com/office/powerpoint/2010/main" val="36604123"/>
      </p:ext>
    </p:extLst>
  </p:cSld>
</p:sld>
</file>

<file path=ppt/slides/slide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6EF1BA5-A5E2-49AA-82E1-C89FB5D5BE0F}"/>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579D8942-7D2A-4F64-AAEC-B2A83409CF71}"/>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The frozen experiment contains 240 outcomes</a:t>
            </a:r>
          </a:p>
        </p:txBody>
      </p:sp>
      <p:sp>
        <p:nvSpPr>
          <p:cNvPr id="3" name="text-2">
            <a:extLst xmlns:a="http://schemas.openxmlformats.org/drawingml/2006/main">
              <a:ext uri="{FF2B5EF4-FFF2-40B4-BE49-F238E27FC236}">
                <a16:creationId xmlns:a16="http://schemas.microsoft.com/office/drawing/2014/main" id="{9CE8E925-412A-48F2-9806-A44FD89C11E4}"/>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FA2A736D-BDA5-4AAC-A12A-C7F9DD543155}"/>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06</a:t>
            </a:r>
          </a:p>
        </p:txBody>
      </p:sp>
      <p:sp>
        <p:nvSpPr>
          <p:cNvPr id="5" name="text-4">
            <a:extLst xmlns:a="http://schemas.openxmlformats.org/drawingml/2006/main">
              <a:ext uri="{FF2B5EF4-FFF2-40B4-BE49-F238E27FC236}">
                <a16:creationId xmlns:a16="http://schemas.microsoft.com/office/drawing/2014/main" id="{CB5B993E-9D97-49BF-A465-217D4B56464C}"/>
              </a:ext>
            </a:extLst>
          </p:cNvPr>
          <p:cNvSpPr>
            <a:spLocks xmlns:a="http://schemas.openxmlformats.org/drawingml/2006/main" noGrp="1"/>
          </p:cNvSpPr>
          <p:nvPr/>
        </p:nvSpPr>
        <p:spPr>
          <a:xfrm xmlns:a="http://schemas.openxmlformats.org/drawingml/2006/main">
            <a:off x="609600" y="21812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b="1">
                <a:solidFill>
                  <a:srgbClr val="17647B"/>
                </a:solidFill>
                <a:latin typeface="Arial"/>
                <a:ea typeface="Arial"/>
                <a:cs typeface="Arial"/>
              </a:defRPr>
            </a:defPPr>
          </a:lstStyle>
          <a:p xmlns:a="http://schemas.openxmlformats.org/drawingml/2006/main">
            <a:pPr>
              <a:defRPr sz="3000" b="1">
                <a:solidFill>
                  <a:srgbClr val="17647B"/>
                </a:solidFill>
                <a:latin typeface="Arial"/>
                <a:ea typeface="Arial"/>
                <a:cs typeface="Arial"/>
              </a:defRPr>
            </a:pPr>
            <a:r>
              <a:rPr sz="3000" b="1">
                <a:solidFill>
                  <a:srgbClr val="17647B"/>
                </a:solidFill>
                <a:latin typeface="Arial"/>
                <a:ea typeface="Arial"/>
                <a:cs typeface="Arial"/>
              </a:rPr>
              <a:t>20 questions × 4 conditions × 3 repeats</a:t>
            </a:r>
          </a:p>
        </p:txBody>
      </p:sp>
      <p:sp>
        <p:nvSpPr>
          <p:cNvPr id="6" name="text-5">
            <a:extLst xmlns:a="http://schemas.openxmlformats.org/drawingml/2006/main">
              <a:ext uri="{FF2B5EF4-FFF2-40B4-BE49-F238E27FC236}">
                <a16:creationId xmlns:a16="http://schemas.microsoft.com/office/drawing/2014/main" id="{4B4E87E0-B8BD-4111-A907-8E1158623DBB}"/>
              </a:ext>
            </a:extLst>
          </p:cNvPr>
          <p:cNvSpPr>
            <a:spLocks xmlns:a="http://schemas.openxmlformats.org/drawingml/2006/main" noGrp="1"/>
          </p:cNvSpPr>
          <p:nvPr/>
        </p:nvSpPr>
        <p:spPr>
          <a:xfrm xmlns:a="http://schemas.openxmlformats.org/drawingml/2006/main">
            <a:off x="609600" y="31813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15374B"/>
                </a:solidFill>
                <a:latin typeface="Arial"/>
                <a:ea typeface="Arial"/>
                <a:cs typeface="Arial"/>
              </a:defRPr>
            </a:defPPr>
          </a:lstStyle>
          <a:p xmlns:a="http://schemas.openxmlformats.org/drawingml/2006/main">
            <a:pPr>
              <a:defRPr sz="2100" b="0">
                <a:solidFill>
                  <a:srgbClr val="15374B"/>
                </a:solidFill>
                <a:latin typeface="Arial"/>
                <a:ea typeface="Arial"/>
                <a:cs typeface="Arial"/>
              </a:defRPr>
            </a:pPr>
            <a:r>
              <a:rPr sz="2100" b="0">
                <a:solidFill>
                  <a:srgbClr val="15374B"/>
                </a:solidFill>
                <a:latin typeface="Arial"/>
                <a:ea typeface="Arial"/>
                <a:cs typeface="Arial"/>
              </a:rPr>
              <a:t>Four excluded warm-ups and seed-42 execution order</a:t>
            </a:r>
          </a:p>
        </p:txBody>
      </p:sp>
      <p:sp>
        <p:nvSpPr>
          <p:cNvPr id="7" name="text-6">
            <a:extLst xmlns:a="http://schemas.openxmlformats.org/drawingml/2006/main">
              <a:ext uri="{FF2B5EF4-FFF2-40B4-BE49-F238E27FC236}">
                <a16:creationId xmlns:a16="http://schemas.microsoft.com/office/drawing/2014/main" id="{ECD98D77-3786-40D2-8CD2-20BEE712079E}"/>
              </a:ext>
            </a:extLst>
          </p:cNvPr>
          <p:cNvSpPr>
            <a:spLocks xmlns:a="http://schemas.openxmlformats.org/drawingml/2006/main" noGrp="1"/>
          </p:cNvSpPr>
          <p:nvPr/>
        </p:nvSpPr>
        <p:spPr>
          <a:xfrm xmlns:a="http://schemas.openxmlformats.org/drawingml/2006/main">
            <a:off x="609600" y="39909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15374B"/>
                </a:solidFill>
                <a:latin typeface="Arial"/>
                <a:ea typeface="Arial"/>
                <a:cs typeface="Arial"/>
              </a:defRPr>
            </a:defPPr>
          </a:lstStyle>
          <a:p xmlns:a="http://schemas.openxmlformats.org/drawingml/2006/main">
            <a:pPr>
              <a:defRPr sz="2100" b="0">
                <a:solidFill>
                  <a:srgbClr val="15374B"/>
                </a:solidFill>
                <a:latin typeface="Arial"/>
                <a:ea typeface="Arial"/>
                <a:cs typeface="Arial"/>
              </a:defRPr>
            </a:pPr>
            <a:r>
              <a:rPr sz="2100" b="0">
                <a:solidFill>
                  <a:srgbClr val="15374B"/>
                </a:solidFill>
                <a:latin typeface="Arial"/>
                <a:ea typeface="Arial"/>
                <a:cs typeface="Arial"/>
              </a:rPr>
              <a:t>80 primary human entries from the prespecified first repeat</a:t>
            </a:r>
          </a:p>
        </p:txBody>
      </p:sp>
      <p:sp>
        <p:nvSpPr>
          <p:cNvPr id="8" name="text-7">
            <a:extLst xmlns:a="http://schemas.openxmlformats.org/drawingml/2006/main">
              <a:ext uri="{FF2B5EF4-FFF2-40B4-BE49-F238E27FC236}">
                <a16:creationId xmlns:a16="http://schemas.microsoft.com/office/drawing/2014/main" id="{9996DB05-5F61-4F61-9D5C-FEFC58CD717B}"/>
              </a:ext>
            </a:extLst>
          </p:cNvPr>
          <p:cNvSpPr>
            <a:spLocks xmlns:a="http://schemas.openxmlformats.org/drawingml/2006/main" noGrp="1"/>
          </p:cNvSpPr>
          <p:nvPr/>
        </p:nvSpPr>
        <p:spPr>
          <a:xfrm xmlns:a="http://schemas.openxmlformats.org/drawingml/2006/main">
            <a:off x="609600" y="48006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15374B"/>
                </a:solidFill>
                <a:latin typeface="Arial"/>
                <a:ea typeface="Arial"/>
                <a:cs typeface="Arial"/>
              </a:defRPr>
            </a:defPPr>
          </a:lstStyle>
          <a:p xmlns:a="http://schemas.openxmlformats.org/drawingml/2006/main">
            <a:pPr>
              <a:defRPr sz="2100" b="0">
                <a:solidFill>
                  <a:srgbClr val="15374B"/>
                </a:solidFill>
                <a:latin typeface="Arial"/>
                <a:ea typeface="Arial"/>
                <a:cs typeface="Arial"/>
              </a:defRPr>
            </a:pPr>
            <a:r>
              <a:rPr sz="2100" b="0">
                <a:solidFill>
                  <a:srgbClr val="15374B"/>
                </a:solidFill>
                <a:latin typeface="Arial"/>
                <a:ea typeface="Arial"/>
                <a:cs typeface="Arial"/>
              </a:rPr>
              <a:t>20 secondary entries for the author’s delayed rescore</a:t>
            </a:r>
          </a:p>
        </p:txBody>
      </p:sp>
      <p:sp>
        <p:nvSpPr>
          <p:cNvPr id="9" name="text-8">
            <a:extLst xmlns:a="http://schemas.openxmlformats.org/drawingml/2006/main">
              <a:ext uri="{FF2B5EF4-FFF2-40B4-BE49-F238E27FC236}">
                <a16:creationId xmlns:a16="http://schemas.microsoft.com/office/drawing/2014/main" id="{9F177697-014A-4357-85AF-07F1CA05AFC4}"/>
              </a:ext>
            </a:extLst>
          </p:cNvPr>
          <p:cNvSpPr>
            <a:spLocks xmlns:a="http://schemas.openxmlformats.org/drawingml/2006/main" noGrp="1"/>
          </p:cNvSpPr>
          <p:nvPr/>
        </p:nvSpPr>
        <p:spPr>
          <a:xfrm xmlns:a="http://schemas.openxmlformats.org/drawingml/2006/main">
            <a:off x="609600" y="57340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506476"/>
                </a:solidFill>
                <a:latin typeface="Arial"/>
                <a:ea typeface="Arial"/>
                <a:cs typeface="Arial"/>
              </a:defRPr>
            </a:defPPr>
          </a:lstStyle>
          <a:p xmlns:a="http://schemas.openxmlformats.org/drawingml/2006/main">
            <a:pPr>
              <a:defRPr sz="1800" b="0">
                <a:solidFill>
                  <a:srgbClr val="506476"/>
                </a:solidFill>
                <a:latin typeface="Arial"/>
                <a:ea typeface="Arial"/>
                <a:cs typeface="Arial"/>
              </a:defRPr>
            </a:pPr>
            <a:r>
              <a:rPr sz="1800" b="0">
                <a:solidFill>
                  <a:srgbClr val="506476"/>
                </a:solidFill>
                <a:latin typeface="Arial"/>
                <a:ea typeface="Arial"/>
                <a:cs typeface="Arial"/>
              </a:rPr>
              <a:t>No regeneration, favorable replacement or imputation after observing results.</a:t>
            </a:r>
          </a:p>
        </p:txBody>
      </p:sp>
    </p:spTree>
    <p:extLst>
      <p:ext uri="{BB962C8B-B14F-4D97-AF65-F5344CB8AC3E}">
        <p14:creationId xmlns:p14="http://schemas.microsoft.com/office/powerpoint/2010/main" val="192194671"/>
      </p:ext>
    </p:extLst>
  </p:cSld>
</p:sld>
</file>

<file path=ppt/slides/slide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C5593567-612F-4343-994C-9D75C2D37A03}"/>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0AC88070-ED44-44B3-909F-482E21F0C521}"/>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Availability remains part of the result</a:t>
            </a:r>
          </a:p>
        </p:txBody>
      </p:sp>
      <p:sp>
        <p:nvSpPr>
          <p:cNvPr id="3" name="text-2">
            <a:extLst xmlns:a="http://schemas.openxmlformats.org/drawingml/2006/main">
              <a:ext uri="{FF2B5EF4-FFF2-40B4-BE49-F238E27FC236}">
                <a16:creationId xmlns:a16="http://schemas.microsoft.com/office/drawing/2014/main" id="{8C23F4A2-855B-4E58-83D8-91DF5EBC8A0D}"/>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EFF11FA8-9657-48D9-AC83-6F9541926D3A}"/>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07</a:t>
            </a:r>
          </a:p>
        </p:txBody>
      </p:sp>
      <p:graphicFrame>
        <p:nvGraphicFramePr>
          <p:cNvPr id="5" name="Chart">
            <a:extLst xmlns:a="http://schemas.openxmlformats.org/drawingml/2006/main">
              <a:ext uri="{FF2B5EF4-FFF2-40B4-BE49-F238E27FC236}">
                <a16:creationId xmlns:a16="http://schemas.microsoft.com/office/drawing/2014/main" id="{A4835280-1DCF-4676-B1E8-3D05A0A13360}"/>
              </a:ext>
            </a:extLst>
          </p:cNvPr>
          <p:cNvGraphicFramePr/>
          <p:nvPr/>
        </p:nvGraphicFramePr>
        <p:xfrm>
          <a:off xmlns:a="http://schemas.openxmlformats.org/drawingml/2006/main" x="609600" y="2095500"/>
          <a:ext xmlns:a="http://schemas.openxmlformats.org/drawingml/2006/main" cx="7096125" cy="3390900"/>
        </p:xfrm>
        <a:graphic xmlns:a="http://schemas.openxmlformats.org/drawingml/2006/main">
          <a:graphicData uri="http://schemas.openxmlformats.org/drawingml/2006/chart">
            <c:chart xmlns:r="http://schemas.openxmlformats.org/officeDocument/2006/relationships" xmlns:c="http://schemas.openxmlformats.org/drawingml/2006/chart" r:id="R5d955a8911ac4be8"/>
          </a:graphicData>
        </a:graphic>
      </p:graphicFrame>
      <p:sp>
        <p:nvSpPr>
          <p:cNvPr id="6" name="text-4">
            <a:extLst xmlns:a="http://schemas.openxmlformats.org/drawingml/2006/main">
              <a:ext uri="{FF2B5EF4-FFF2-40B4-BE49-F238E27FC236}">
                <a16:creationId xmlns:a16="http://schemas.microsoft.com/office/drawing/2014/main" id="{DD1AB1B6-9634-4363-B419-6B325B8DC038}"/>
              </a:ext>
            </a:extLst>
          </p:cNvPr>
          <p:cNvSpPr>
            <a:spLocks xmlns:a="http://schemas.openxmlformats.org/drawingml/2006/main" noGrp="1"/>
          </p:cNvSpPr>
          <p:nvPr/>
        </p:nvSpPr>
        <p:spPr>
          <a:xfrm xmlns:a="http://schemas.openxmlformats.org/drawingml/2006/main">
            <a:off x="8191500" y="238125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675" b="1">
                <a:solidFill>
                  <a:srgbClr val="17647B"/>
                </a:solidFill>
                <a:latin typeface="Arial"/>
                <a:ea typeface="Arial"/>
                <a:cs typeface="Arial"/>
              </a:defRPr>
            </a:defPPr>
          </a:lstStyle>
          <a:p xmlns:a="http://schemas.openxmlformats.org/drawingml/2006/main">
            <a:pPr>
              <a:defRPr sz="3675" b="1">
                <a:solidFill>
                  <a:srgbClr val="17647B"/>
                </a:solidFill>
                <a:latin typeface="Arial"/>
                <a:ea typeface="Arial"/>
                <a:cs typeface="Arial"/>
              </a:defRPr>
            </a:pPr>
            <a:r>
              <a:rPr sz="3675" b="1">
                <a:solidFill>
                  <a:srgbClr val="17647B"/>
                </a:solidFill>
                <a:latin typeface="Arial"/>
                <a:ea typeface="Arial"/>
                <a:cs typeface="Arial"/>
              </a:rPr>
              <a:t>639 / 720</a:t>
            </a:r>
          </a:p>
        </p:txBody>
      </p:sp>
      <p:sp>
        <p:nvSpPr>
          <p:cNvPr id="7" name="text-5">
            <a:extLst xmlns:a="http://schemas.openxmlformats.org/drawingml/2006/main">
              <a:ext uri="{FF2B5EF4-FFF2-40B4-BE49-F238E27FC236}">
                <a16:creationId xmlns:a16="http://schemas.microsoft.com/office/drawing/2014/main" id="{6034B381-DD3D-4025-9F84-217EDD2D1E82}"/>
              </a:ext>
            </a:extLst>
          </p:cNvPr>
          <p:cNvSpPr>
            <a:spLocks xmlns:a="http://schemas.openxmlformats.org/drawingml/2006/main" noGrp="1"/>
          </p:cNvSpPr>
          <p:nvPr/>
        </p:nvSpPr>
        <p:spPr>
          <a:xfrm xmlns:a="http://schemas.openxmlformats.org/drawingml/2006/main">
            <a:off x="8191500" y="33718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15374B"/>
                </a:solidFill>
                <a:latin typeface="Arial"/>
                <a:ea typeface="Arial"/>
                <a:cs typeface="Arial"/>
              </a:defRPr>
            </a:defPPr>
          </a:lstStyle>
          <a:p xmlns:a="http://schemas.openxmlformats.org/drawingml/2006/main">
            <a:pPr>
              <a:defRPr sz="2025" b="0">
                <a:solidFill>
                  <a:srgbClr val="15374B"/>
                </a:solidFill>
                <a:latin typeface="Arial"/>
                <a:ea typeface="Arial"/>
                <a:cs typeface="Arial"/>
              </a:defRPr>
            </a:pPr>
            <a:r>
              <a:rPr sz="2025" b="0">
                <a:solidFill>
                  <a:srgbClr val="15374B"/>
                </a:solidFill>
                <a:latin typeface="Arial"/>
                <a:ea typeface="Arial"/>
                <a:cs typeface="Arial"/>
              </a:rPr>
              <a:t>automatic metric slots</a:t>
            </a:r>
          </a:p>
          <a:p xmlns:a="http://schemas.openxmlformats.org/drawingml/2006/main">
            <a:pPr>
              <a:defRPr sz="2025" b="0">
                <a:solidFill>
                  <a:srgbClr val="15374B"/>
                </a:solidFill>
                <a:latin typeface="Arial"/>
                <a:ea typeface="Arial"/>
                <a:cs typeface="Arial"/>
              </a:defRPr>
            </a:pPr>
            <a:r>
              <a:rPr sz="2025" b="0">
                <a:solidFill>
                  <a:srgbClr val="15374B"/>
                </a:solidFill>
                <a:latin typeface="Arial"/>
                <a:ea typeface="Arial"/>
                <a:cs typeface="Arial"/>
              </a:rPr>
              <a:t>returned numeric values</a:t>
            </a:r>
          </a:p>
        </p:txBody>
      </p:sp>
      <p:sp>
        <p:nvSpPr>
          <p:cNvPr id="8" name="text-6">
            <a:extLst xmlns:a="http://schemas.openxmlformats.org/drawingml/2006/main">
              <a:ext uri="{FF2B5EF4-FFF2-40B4-BE49-F238E27FC236}">
                <a16:creationId xmlns:a16="http://schemas.microsoft.com/office/drawing/2014/main" id="{2A2F7890-B613-49C3-8AD8-627DA7A3E6AD}"/>
              </a:ext>
            </a:extLst>
          </p:cNvPr>
          <p:cNvSpPr>
            <a:spLocks xmlns:a="http://schemas.openxmlformats.org/drawingml/2006/main" noGrp="1"/>
          </p:cNvSpPr>
          <p:nvPr/>
        </p:nvSpPr>
        <p:spPr>
          <a:xfrm xmlns:a="http://schemas.openxmlformats.org/drawingml/2006/main">
            <a:off x="8191500" y="4648200"/>
            <a:ext cx="328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506476"/>
                </a:solidFill>
                <a:latin typeface="Arial"/>
                <a:ea typeface="Arial"/>
                <a:cs typeface="Arial"/>
              </a:defRPr>
            </a:defPPr>
          </a:lstStyle>
          <a:p xmlns:a="http://schemas.openxmlformats.org/drawingml/2006/main">
            <a:pPr>
              <a:defRPr sz="1875" b="0">
                <a:solidFill>
                  <a:srgbClr val="506476"/>
                </a:solidFill>
                <a:latin typeface="Arial"/>
                <a:ea typeface="Arial"/>
                <a:cs typeface="Arial"/>
              </a:defRPr>
            </a:pPr>
            <a:r>
              <a:rPr sz="1875" b="0">
                <a:solidFill>
                  <a:srgbClr val="506476"/>
                </a:solidFill>
                <a:latin typeface="Arial"/>
                <a:ea typeface="Arial"/>
                <a:cs typeface="Arial"/>
              </a:rPr>
              <a:t>36 judge failures</a:t>
            </a:r>
          </a:p>
          <a:p xmlns:a="http://schemas.openxmlformats.org/drawingml/2006/main">
            <a:pPr>
              <a:defRPr sz="1875" b="0">
                <a:solidFill>
                  <a:srgbClr val="506476"/>
                </a:solidFill>
                <a:latin typeface="Arial"/>
                <a:ea typeface="Arial"/>
                <a:cs typeface="Arial"/>
              </a:defRPr>
            </a:pPr>
            <a:r>
              <a:rPr sz="1875" b="0">
                <a:solidFill>
                  <a:srgbClr val="506476"/>
                </a:solidFill>
                <a:latin typeface="Arial"/>
                <a:ea typeface="Arial"/>
                <a:cs typeface="Arial"/>
              </a:rPr>
              <a:t>45 unavailable slots</a:t>
            </a:r>
          </a:p>
        </p:txBody>
      </p:sp>
      <p:sp>
        <p:nvSpPr>
          <p:cNvPr id="9" name="text-7">
            <a:extLst xmlns:a="http://schemas.openxmlformats.org/drawingml/2006/main">
              <a:ext uri="{FF2B5EF4-FFF2-40B4-BE49-F238E27FC236}">
                <a16:creationId xmlns:a16="http://schemas.microsoft.com/office/drawing/2014/main" id="{98743068-BCB1-4B6F-8FC6-EA0D2F645EAC}"/>
              </a:ext>
            </a:extLst>
          </p:cNvPr>
          <p:cNvSpPr>
            <a:spLocks xmlns:a="http://schemas.openxmlformats.org/drawingml/2006/main" noGrp="1"/>
          </p:cNvSpPr>
          <p:nvPr/>
        </p:nvSpPr>
        <p:spPr>
          <a:xfrm xmlns:a="http://schemas.openxmlformats.org/drawingml/2006/main">
            <a:off x="609600" y="58102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506476"/>
                </a:solidFill>
                <a:latin typeface="Arial"/>
                <a:ea typeface="Arial"/>
                <a:cs typeface="Arial"/>
              </a:defRPr>
            </a:defPPr>
          </a:lstStyle>
          <a:p xmlns:a="http://schemas.openxmlformats.org/drawingml/2006/main">
            <a:pPr>
              <a:defRPr sz="1725" b="0">
                <a:solidFill>
                  <a:srgbClr val="506476"/>
                </a:solidFill>
                <a:latin typeface="Arial"/>
                <a:ea typeface="Arial"/>
                <a:cs typeface="Arial"/>
              </a:defRPr>
            </a:pPr>
            <a:r>
              <a:rPr sz="1725" b="0">
                <a:solidFill>
                  <a:srgbClr val="506476"/>
                </a:solidFill>
                <a:latin typeface="Arial"/>
                <a:ea typeface="Arial"/>
                <a:cs typeface="Arial"/>
              </a:rPr>
              <a:t>“Valid” means schema/citation validation passed. It does not mean semantically correct.</a:t>
            </a:r>
          </a:p>
        </p:txBody>
      </p:sp>
    </p:spTree>
    <p:extLst>
      <p:ext uri="{BB962C8B-B14F-4D97-AF65-F5344CB8AC3E}">
        <p14:creationId xmlns:p14="http://schemas.microsoft.com/office/powerpoint/2010/main" val="558433103"/>
      </p:ext>
    </p:extLst>
  </p:cSld>
</p:sld>
</file>

<file path=ppt/slides/slide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62B4FD9-E473-4B13-B9EB-D822AF2A22C7}"/>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E944D3AF-320E-48D8-AB6E-DBE6FF6E7600}"/>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Extraction F1 misses the proposed 0.80 target</a:t>
            </a:r>
          </a:p>
        </p:txBody>
      </p:sp>
      <p:sp>
        <p:nvSpPr>
          <p:cNvPr id="3" name="text-2">
            <a:extLst xmlns:a="http://schemas.openxmlformats.org/drawingml/2006/main">
              <a:ext uri="{FF2B5EF4-FFF2-40B4-BE49-F238E27FC236}">
                <a16:creationId xmlns:a16="http://schemas.microsoft.com/office/drawing/2014/main" id="{E603A5BB-477B-409D-BBE0-B0AE8A029183}"/>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642BCB1E-59AC-4D03-9835-1AC786500D64}"/>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08</a:t>
            </a:r>
          </a:p>
        </p:txBody>
      </p:sp>
      <p:graphicFrame>
        <p:nvGraphicFramePr>
          <p:cNvPr id="5" name="Chart">
            <a:extLst xmlns:a="http://schemas.openxmlformats.org/drawingml/2006/main">
              <a:ext uri="{FF2B5EF4-FFF2-40B4-BE49-F238E27FC236}">
                <a16:creationId xmlns:a16="http://schemas.microsoft.com/office/drawing/2014/main" id="{C63D84FE-59C1-4E28-810E-C2D315A33C5E}"/>
              </a:ext>
            </a:extLst>
          </p:cNvPr>
          <p:cNvGraphicFramePr/>
          <p:nvPr/>
        </p:nvGraphicFramePr>
        <p:xfrm>
          <a:off xmlns:a="http://schemas.openxmlformats.org/drawingml/2006/main" x="609600" y="2095500"/>
          <a:ext xmlns:a="http://schemas.openxmlformats.org/drawingml/2006/main" cx="7048500" cy="3390900"/>
        </p:xfrm>
        <a:graphic xmlns:a="http://schemas.openxmlformats.org/drawingml/2006/main">
          <a:graphicData uri="http://schemas.openxmlformats.org/drawingml/2006/chart">
            <c:chart xmlns:r="http://schemas.openxmlformats.org/officeDocument/2006/relationships" xmlns:c="http://schemas.openxmlformats.org/drawingml/2006/chart" r:id="Rf0d336f487d542d3"/>
          </a:graphicData>
        </a:graphic>
      </p:graphicFrame>
      <p:sp>
        <p:nvSpPr>
          <p:cNvPr id="6" name="text-4">
            <a:extLst xmlns:a="http://schemas.openxmlformats.org/drawingml/2006/main">
              <a:ext uri="{FF2B5EF4-FFF2-40B4-BE49-F238E27FC236}">
                <a16:creationId xmlns:a16="http://schemas.microsoft.com/office/drawing/2014/main" id="{E5D81F24-F58C-471C-84F8-5C2C54AFD5B2}"/>
              </a:ext>
            </a:extLst>
          </p:cNvPr>
          <p:cNvSpPr>
            <a:spLocks xmlns:a="http://schemas.openxmlformats.org/drawingml/2006/main" noGrp="1"/>
          </p:cNvSpPr>
          <p:nvPr/>
        </p:nvSpPr>
        <p:spPr>
          <a:xfrm xmlns:a="http://schemas.openxmlformats.org/drawingml/2006/main">
            <a:off x="8191500" y="2276475"/>
            <a:ext cx="309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925" b="1">
                <a:solidFill>
                  <a:srgbClr val="17647B"/>
                </a:solidFill>
                <a:latin typeface="Arial"/>
                <a:ea typeface="Arial"/>
                <a:cs typeface="Arial"/>
              </a:defRPr>
            </a:defPPr>
          </a:lstStyle>
          <a:p xmlns:a="http://schemas.openxmlformats.org/drawingml/2006/main">
            <a:pPr>
              <a:defRPr sz="2925" b="1">
                <a:solidFill>
                  <a:srgbClr val="17647B"/>
                </a:solidFill>
                <a:latin typeface="Arial"/>
                <a:ea typeface="Arial"/>
                <a:cs typeface="Arial"/>
              </a:defRPr>
            </a:pPr>
            <a:r>
              <a:rPr sz="2925" b="1">
                <a:solidFill>
                  <a:srgbClr val="17647B"/>
                </a:solidFill>
                <a:latin typeface="Arial"/>
                <a:ea typeface="Arial"/>
                <a:cs typeface="Arial"/>
              </a:rPr>
              <a:t>10 TP</a:t>
            </a:r>
          </a:p>
        </p:txBody>
      </p:sp>
      <p:sp>
        <p:nvSpPr>
          <p:cNvPr id="7" name="text-5">
            <a:extLst xmlns:a="http://schemas.openxmlformats.org/drawingml/2006/main">
              <a:ext uri="{FF2B5EF4-FFF2-40B4-BE49-F238E27FC236}">
                <a16:creationId xmlns:a16="http://schemas.microsoft.com/office/drawing/2014/main" id="{DBB5817E-F3D4-4F42-B55A-A04008086DEF}"/>
              </a:ext>
            </a:extLst>
          </p:cNvPr>
          <p:cNvSpPr>
            <a:spLocks xmlns:a="http://schemas.openxmlformats.org/drawingml/2006/main" noGrp="1"/>
          </p:cNvSpPr>
          <p:nvPr/>
        </p:nvSpPr>
        <p:spPr>
          <a:xfrm xmlns:a="http://schemas.openxmlformats.org/drawingml/2006/main">
            <a:off x="8191500" y="3095625"/>
            <a:ext cx="314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15374B"/>
                </a:solidFill>
                <a:latin typeface="Arial"/>
                <a:ea typeface="Arial"/>
                <a:cs typeface="Arial"/>
              </a:defRPr>
            </a:defPPr>
          </a:lstStyle>
          <a:p xmlns:a="http://schemas.openxmlformats.org/drawingml/2006/main">
            <a:pPr>
              <a:defRPr sz="2100" b="0">
                <a:solidFill>
                  <a:srgbClr val="15374B"/>
                </a:solidFill>
                <a:latin typeface="Arial"/>
                <a:ea typeface="Arial"/>
                <a:cs typeface="Arial"/>
              </a:defRPr>
            </a:pPr>
            <a:r>
              <a:rPr sz="2100" b="0">
                <a:solidFill>
                  <a:srgbClr val="15374B"/>
                </a:solidFill>
                <a:latin typeface="Arial"/>
                <a:ea typeface="Arial"/>
                <a:cs typeface="Arial"/>
              </a:rPr>
              <a:t>12 exact nonmatches</a:t>
            </a:r>
          </a:p>
          <a:p xmlns:a="http://schemas.openxmlformats.org/drawingml/2006/main">
            <a:pPr>
              <a:defRPr sz="2100" b="0">
                <a:solidFill>
                  <a:srgbClr val="15374B"/>
                </a:solidFill>
                <a:latin typeface="Arial"/>
                <a:ea typeface="Arial"/>
                <a:cs typeface="Arial"/>
              </a:defRPr>
            </a:pPr>
            <a:r>
              <a:rPr sz="2100" b="0">
                <a:solidFill>
                  <a:srgbClr val="15374B"/>
                </a:solidFill>
                <a:latin typeface="Arial"/>
                <a:ea typeface="Arial"/>
                <a:cs typeface="Arial"/>
              </a:rPr>
              <a:t>139 missed assertions</a:t>
            </a:r>
          </a:p>
        </p:txBody>
      </p:sp>
      <p:sp>
        <p:nvSpPr>
          <p:cNvPr id="8" name="text-6">
            <a:extLst xmlns:a="http://schemas.openxmlformats.org/drawingml/2006/main">
              <a:ext uri="{FF2B5EF4-FFF2-40B4-BE49-F238E27FC236}">
                <a16:creationId xmlns:a16="http://schemas.microsoft.com/office/drawing/2014/main" id="{3851F4B6-E47A-46D8-9AB6-BE2921E13704}"/>
              </a:ext>
            </a:extLst>
          </p:cNvPr>
          <p:cNvSpPr>
            <a:spLocks xmlns:a="http://schemas.openxmlformats.org/drawingml/2006/main" noGrp="1"/>
          </p:cNvSpPr>
          <p:nvPr/>
        </p:nvSpPr>
        <p:spPr>
          <a:xfrm xmlns:a="http://schemas.openxmlformats.org/drawingml/2006/main">
            <a:off x="8191500" y="4581525"/>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506476"/>
                </a:solidFill>
                <a:latin typeface="Arial"/>
                <a:ea typeface="Arial"/>
                <a:cs typeface="Arial"/>
              </a:defRPr>
            </a:defPPr>
          </a:lstStyle>
          <a:p xmlns:a="http://schemas.openxmlformats.org/drawingml/2006/main">
            <a:pPr>
              <a:defRPr sz="1875" b="0">
                <a:solidFill>
                  <a:srgbClr val="506476"/>
                </a:solidFill>
                <a:latin typeface="Arial"/>
                <a:ea typeface="Arial"/>
                <a:cs typeface="Arial"/>
              </a:defRPr>
            </a:pPr>
            <a:r>
              <a:rPr sz="1875" b="0">
                <a:solidFill>
                  <a:srgbClr val="506476"/>
                </a:solidFill>
                <a:latin typeface="Arial"/>
                <a:ea typeface="Arial"/>
                <a:cs typeface="Arial"/>
              </a:rPr>
              <a:t>149 scoped gold assertions</a:t>
            </a:r>
          </a:p>
          <a:p xmlns:a="http://schemas.openxmlformats.org/drawingml/2006/main">
            <a:pPr>
              <a:defRPr sz="1875" b="0">
                <a:solidFill>
                  <a:srgbClr val="506476"/>
                </a:solidFill>
                <a:latin typeface="Arial"/>
                <a:ea typeface="Arial"/>
                <a:cs typeface="Arial"/>
              </a:defRPr>
            </a:pPr>
            <a:r>
              <a:rPr sz="1875" b="0">
                <a:solidFill>
                  <a:srgbClr val="506476"/>
                </a:solidFill>
                <a:latin typeface="Arial"/>
                <a:ea typeface="Arial"/>
                <a:cs typeface="Arial"/>
              </a:rPr>
              <a:t>22 unique predictions</a:t>
            </a:r>
          </a:p>
        </p:txBody>
      </p:sp>
      <p:sp>
        <p:nvSpPr>
          <p:cNvPr id="9" name="text-7">
            <a:extLst xmlns:a="http://schemas.openxmlformats.org/drawingml/2006/main">
              <a:ext uri="{FF2B5EF4-FFF2-40B4-BE49-F238E27FC236}">
                <a16:creationId xmlns:a16="http://schemas.microsoft.com/office/drawing/2014/main" id="{535C9017-EF8D-439F-817E-298AD76A3478}"/>
              </a:ext>
            </a:extLst>
          </p:cNvPr>
          <p:cNvSpPr>
            <a:spLocks xmlns:a="http://schemas.openxmlformats.org/drawingml/2006/main" noGrp="1"/>
          </p:cNvSpPr>
          <p:nvPr/>
        </p:nvSpPr>
        <p:spPr>
          <a:xfrm xmlns:a="http://schemas.openxmlformats.org/drawingml/2006/main">
            <a:off x="609600" y="5810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506476"/>
                </a:solidFill>
                <a:latin typeface="Arial"/>
                <a:ea typeface="Arial"/>
                <a:cs typeface="Arial"/>
              </a:defRPr>
            </a:defPPr>
          </a:lstStyle>
          <a:p xmlns:a="http://schemas.openxmlformats.org/drawingml/2006/main">
            <a:pPr>
              <a:defRPr sz="1725" b="0">
                <a:solidFill>
                  <a:srgbClr val="506476"/>
                </a:solidFill>
                <a:latin typeface="Arial"/>
                <a:ea typeface="Arial"/>
                <a:cs typeface="Arial"/>
              </a:defRPr>
            </a:pPr>
            <a:r>
              <a:rPr sz="1725" b="0">
                <a:solidFill>
                  <a:srgbClr val="506476"/>
                </a:solidFill>
                <a:latin typeface="Arial"/>
                <a:ea typeface="Arial"/>
                <a:cs typeface="Arial"/>
              </a:rPr>
              <a:t>Five nonmatches may expose annotation or granularity gaps. Frozen labels remain unchanged.</a:t>
            </a:r>
          </a:p>
        </p:txBody>
      </p:sp>
    </p:spTree>
    <p:extLst>
      <p:ext uri="{BB962C8B-B14F-4D97-AF65-F5344CB8AC3E}">
        <p14:creationId xmlns:p14="http://schemas.microsoft.com/office/powerpoint/2010/main" val="1128269522"/>
      </p:ext>
    </p:extLst>
  </p:cSld>
</p:sld>
</file>

<file path=ppt/slides/slide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1708ECEE-CCC4-47DD-8F4F-A9275609A141}"/>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96BA0533-BD8F-4A06-9D2C-103C2AB23C96}"/>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The analyst can inspect the source passage</a:t>
            </a:r>
          </a:p>
        </p:txBody>
      </p:sp>
      <p:sp>
        <p:nvSpPr>
          <p:cNvPr id="3" name="text-2">
            <a:extLst xmlns:a="http://schemas.openxmlformats.org/drawingml/2006/main">
              <a:ext uri="{FF2B5EF4-FFF2-40B4-BE49-F238E27FC236}">
                <a16:creationId xmlns:a16="http://schemas.microsoft.com/office/drawing/2014/main" id="{C7F15AB3-AF58-4D75-9570-FFE9A0964CCF}"/>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1E0CECA6-7C26-415E-82A5-3FF414AFD055}"/>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09</a:t>
            </a:r>
          </a:p>
        </p:txBody>
      </p:sp>
      <p:sp>
        <p:nvSpPr>
          <p:cNvPr id="5" name="text-4">
            <a:extLst xmlns:a="http://schemas.openxmlformats.org/drawingml/2006/main">
              <a:ext uri="{FF2B5EF4-FFF2-40B4-BE49-F238E27FC236}">
                <a16:creationId xmlns:a16="http://schemas.microsoft.com/office/drawing/2014/main" id="{2525BE1C-37E2-48BB-8693-18ACD4F0CEAF}"/>
              </a:ext>
            </a:extLst>
          </p:cNvPr>
          <p:cNvSpPr>
            <a:spLocks xmlns:a="http://schemas.openxmlformats.org/drawingml/2006/main" noGrp="1"/>
          </p:cNvSpPr>
          <p:nvPr/>
        </p:nvSpPr>
        <p:spPr>
          <a:xfrm xmlns:a="http://schemas.openxmlformats.org/drawingml/2006/main">
            <a:off x="609600" y="2190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325" b="1">
                <a:solidFill>
                  <a:srgbClr val="17647B"/>
                </a:solidFill>
                <a:latin typeface="Arial"/>
                <a:ea typeface="Arial"/>
                <a:cs typeface="Arial"/>
              </a:defRPr>
            </a:defPPr>
          </a:lstStyle>
          <a:p xmlns:a="http://schemas.openxmlformats.org/drawingml/2006/main">
            <a:pPr>
              <a:defRPr sz="2325" b="1">
                <a:solidFill>
                  <a:srgbClr val="17647B"/>
                </a:solidFill>
                <a:latin typeface="Arial"/>
                <a:ea typeface="Arial"/>
                <a:cs typeface="Arial"/>
              </a:defRPr>
            </a:pPr>
            <a:r>
              <a:rPr sz="2325" b="1">
                <a:solidFill>
                  <a:srgbClr val="17647B"/>
                </a:solidFill>
                <a:latin typeface="Arial"/>
                <a:ea typeface="Arial"/>
                <a:cs typeface="Arial"/>
              </a:rPr>
              <a:t>CISA evidence</a:t>
            </a:r>
          </a:p>
        </p:txBody>
      </p:sp>
      <p:sp>
        <p:nvSpPr>
          <p:cNvPr id="6" name="text-5">
            <a:extLst xmlns:a="http://schemas.openxmlformats.org/drawingml/2006/main">
              <a:ext uri="{FF2B5EF4-FFF2-40B4-BE49-F238E27FC236}">
                <a16:creationId xmlns:a16="http://schemas.microsoft.com/office/drawing/2014/main" id="{D30F4F57-B58B-4A33-8232-97CA061B2C32}"/>
              </a:ext>
            </a:extLst>
          </p:cNvPr>
          <p:cNvSpPr>
            <a:spLocks xmlns:a="http://schemas.openxmlformats.org/drawingml/2006/main" noGrp="1"/>
          </p:cNvSpPr>
          <p:nvPr/>
        </p:nvSpPr>
        <p:spPr>
          <a:xfrm xmlns:a="http://schemas.openxmlformats.org/drawingml/2006/main">
            <a:off x="609600" y="2876550"/>
            <a:ext cx="476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0">
                <a:solidFill>
                  <a:srgbClr val="15374B"/>
                </a:solidFill>
                <a:latin typeface="Arial"/>
                <a:ea typeface="Arial"/>
                <a:cs typeface="Arial"/>
              </a:defRPr>
            </a:defPPr>
          </a:lstStyle>
          <a:p xmlns:a="http://schemas.openxmlformats.org/drawingml/2006/main">
            <a:pPr>
              <a:defRPr sz="2175" b="0">
                <a:solidFill>
                  <a:srgbClr val="15374B"/>
                </a:solidFill>
                <a:latin typeface="Arial"/>
                <a:ea typeface="Arial"/>
                <a:cs typeface="Arial"/>
              </a:defRPr>
            </a:pPr>
            <a:r>
              <a:rPr sz="2175" b="0">
                <a:solidFill>
                  <a:srgbClr val="15374B"/>
                </a:solidFill>
                <a:latin typeface="Arial"/>
                <a:ea typeface="Arial"/>
                <a:cs typeface="Arial"/>
              </a:rPr>
              <a:t>The saved Rhysida answer cites the observation about compromised credentials and VPN access.</a:t>
            </a:r>
          </a:p>
        </p:txBody>
      </p:sp>
      <p:sp>
        <p:nvSpPr>
          <p:cNvPr id="7" name="text-6">
            <a:extLst xmlns:a="http://schemas.openxmlformats.org/drawingml/2006/main">
              <a:ext uri="{FF2B5EF4-FFF2-40B4-BE49-F238E27FC236}">
                <a16:creationId xmlns:a16="http://schemas.microsoft.com/office/drawing/2014/main" id="{44189CC0-F3FC-4FCD-BA4D-F3D732C24BFB}"/>
              </a:ext>
            </a:extLst>
          </p:cNvPr>
          <p:cNvSpPr>
            <a:spLocks xmlns:a="http://schemas.openxmlformats.org/drawingml/2006/main" noGrp="1"/>
          </p:cNvSpPr>
          <p:nvPr/>
        </p:nvSpPr>
        <p:spPr>
          <a:xfrm xmlns:a="http://schemas.openxmlformats.org/drawingml/2006/main">
            <a:off x="609600" y="4733925"/>
            <a:ext cx="476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506476"/>
                </a:solidFill>
                <a:latin typeface="Arial"/>
                <a:ea typeface="Arial"/>
                <a:cs typeface="Arial"/>
              </a:defRPr>
            </a:defPPr>
          </a:lstStyle>
          <a:p xmlns:a="http://schemas.openxmlformats.org/drawingml/2006/main">
            <a:pPr>
              <a:defRPr sz="2025" b="0">
                <a:solidFill>
                  <a:srgbClr val="506476"/>
                </a:solidFill>
                <a:latin typeface="Arial"/>
                <a:ea typeface="Arial"/>
                <a:cs typeface="Arial"/>
              </a:defRPr>
            </a:pPr>
            <a:r>
              <a:rPr sz="2025" b="0">
                <a:solidFill>
                  <a:srgbClr val="506476"/>
                </a:solidFill>
                <a:latin typeface="Arial"/>
                <a:ea typeface="Arial"/>
                <a:cs typeface="Arial"/>
              </a:rPr>
              <a:t>Mitigation guidance appears under a separate reference label.</a:t>
            </a:r>
          </a:p>
        </p:txBody>
      </p:sp>
      <p:pic>
        <p:nvPicPr>
          <p:cNvPr id="8" name="">
            <a:extLst xmlns:a="http://schemas.openxmlformats.org/drawingml/2006/main">
              <a:ext uri="{FF2B5EF4-FFF2-40B4-BE49-F238E27FC236}">
                <a16:creationId xmlns:a16="http://schemas.microsoft.com/office/drawing/2014/main" id="{D271003A-FF8F-4004-AEE9-24C72DA07B50}"/>
              </a:ext>
            </a:extLst>
          </p:cNvPr>
          <p:cNvPicPr>
            <a:picLocks xmlns:a="http://schemas.openxmlformats.org/drawingml/2006/main" noChangeAspect="1"/>
          </p:cNvPicPr>
          <p:nvPr/>
        </p:nvPicPr>
        <p:blipFill>
          <a:blip xmlns:r="http://schemas.openxmlformats.org/officeDocument/2006/relationships" xmlns:a="http://schemas.openxmlformats.org/drawingml/2006/main" r:embed="R54d02e5f285c435d"/>
          <a:stretch xmlns:a="http://schemas.openxmlformats.org/drawingml/2006/main"/>
        </p:blipFill>
        <p:spPr>
          <a:xfrm xmlns:a="http://schemas.openxmlformats.org/drawingml/2006/main">
            <a:off x="5907312" y="2000250"/>
            <a:ext cx="5673275" cy="3676650"/>
          </a:xfrm>
          <a:prstGeom xmlns:a="http://schemas.openxmlformats.org/drawingml/2006/main" prst="rect">
            <a:avLst/>
          </a:prstGeom>
        </p:spPr>
      </p:pic>
    </p:spTree>
    <p:extLst>
      <p:ext uri="{BB962C8B-B14F-4D97-AF65-F5344CB8AC3E}">
        <p14:creationId xmlns:p14="http://schemas.microsoft.com/office/powerpoint/2010/main" val="1317949016"/>
      </p:ext>
    </p:extLst>
  </p:cSld>
</p:sld>
</file>

<file path=ppt/slides/slide1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53C79F7-A36C-4C1A-BE64-DCBD08FA2DBF}"/>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01E867DB-0A29-42F0-8970-3BDB445DC6FB}"/>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The query graph exposes the returned paths</a:t>
            </a:r>
          </a:p>
        </p:txBody>
      </p:sp>
      <p:sp>
        <p:nvSpPr>
          <p:cNvPr id="3" name="text-2">
            <a:extLst xmlns:a="http://schemas.openxmlformats.org/drawingml/2006/main">
              <a:ext uri="{FF2B5EF4-FFF2-40B4-BE49-F238E27FC236}">
                <a16:creationId xmlns:a16="http://schemas.microsoft.com/office/drawing/2014/main" id="{BDF63657-8957-460A-B5D6-9418BF012982}"/>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2F81A92D-5B95-4A60-8151-1AE3145D7E59}"/>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10</a:t>
            </a:r>
          </a:p>
        </p:txBody>
      </p:sp>
      <p:sp>
        <p:nvSpPr>
          <p:cNvPr id="5" name="text-4">
            <a:extLst xmlns:a="http://schemas.openxmlformats.org/drawingml/2006/main">
              <a:ext uri="{FF2B5EF4-FFF2-40B4-BE49-F238E27FC236}">
                <a16:creationId xmlns:a16="http://schemas.microsoft.com/office/drawing/2014/main" id="{2DC80288-1806-429B-BD4E-85E96F2E88BF}"/>
              </a:ext>
            </a:extLst>
          </p:cNvPr>
          <p:cNvSpPr>
            <a:spLocks xmlns:a="http://schemas.openxmlformats.org/drawingml/2006/main" noGrp="1"/>
          </p:cNvSpPr>
          <p:nvPr/>
        </p:nvSpPr>
        <p:spPr>
          <a:xfrm xmlns:a="http://schemas.openxmlformats.org/drawingml/2006/main">
            <a:off x="609600" y="2190750"/>
            <a:ext cx="4714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325" b="1">
                <a:solidFill>
                  <a:srgbClr val="17647B"/>
                </a:solidFill>
                <a:latin typeface="Arial"/>
                <a:ea typeface="Arial"/>
                <a:cs typeface="Arial"/>
              </a:defRPr>
            </a:defPPr>
          </a:lstStyle>
          <a:p xmlns:a="http://schemas.openxmlformats.org/drawingml/2006/main">
            <a:pPr>
              <a:defRPr sz="2325" b="1">
                <a:solidFill>
                  <a:srgbClr val="17647B"/>
                </a:solidFill>
                <a:latin typeface="Arial"/>
                <a:ea typeface="Arial"/>
                <a:cs typeface="Arial"/>
              </a:defRPr>
            </a:pPr>
            <a:r>
              <a:rPr sz="2325" b="1">
                <a:solidFill>
                  <a:srgbClr val="17647B"/>
                </a:solidFill>
                <a:latin typeface="Arial"/>
                <a:ea typeface="Arial"/>
                <a:cs typeface="Arial"/>
              </a:rPr>
              <a:t>Directed evidence</a:t>
            </a:r>
          </a:p>
        </p:txBody>
      </p:sp>
      <p:sp>
        <p:nvSpPr>
          <p:cNvPr id="6" name="text-5">
            <a:extLst xmlns:a="http://schemas.openxmlformats.org/drawingml/2006/main">
              <a:ext uri="{FF2B5EF4-FFF2-40B4-BE49-F238E27FC236}">
                <a16:creationId xmlns:a16="http://schemas.microsoft.com/office/drawing/2014/main" id="{23A227AC-907E-4BC4-BE57-79D3C13F1A37}"/>
              </a:ext>
            </a:extLst>
          </p:cNvPr>
          <p:cNvSpPr>
            <a:spLocks xmlns:a="http://schemas.openxmlformats.org/drawingml/2006/main" noGrp="1"/>
          </p:cNvSpPr>
          <p:nvPr/>
        </p:nvSpPr>
        <p:spPr>
          <a:xfrm xmlns:a="http://schemas.openxmlformats.org/drawingml/2006/main">
            <a:off x="609600" y="2886075"/>
            <a:ext cx="4714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0">
                <a:solidFill>
                  <a:srgbClr val="15374B"/>
                </a:solidFill>
                <a:latin typeface="Arial"/>
                <a:ea typeface="Arial"/>
                <a:cs typeface="Arial"/>
              </a:defRPr>
            </a:defPPr>
          </a:lstStyle>
          <a:p xmlns:a="http://schemas.openxmlformats.org/drawingml/2006/main">
            <a:pPr>
              <a:defRPr sz="2175" b="0">
                <a:solidFill>
                  <a:srgbClr val="15374B"/>
                </a:solidFill>
                <a:latin typeface="Arial"/>
                <a:ea typeface="Arial"/>
                <a:cs typeface="Arial"/>
              </a:defRPr>
            </a:pPr>
            <a:r>
              <a:rPr sz="2175" b="0">
                <a:solidFill>
                  <a:srgbClr val="15374B"/>
                </a:solidFill>
                <a:latin typeface="Arial"/>
                <a:ea typeface="Arial"/>
                <a:cs typeface="Arial"/>
              </a:rPr>
              <a:t>Select a technique or relationship to inspect the returned graph structure.</a:t>
            </a:r>
          </a:p>
        </p:txBody>
      </p:sp>
      <p:sp>
        <p:nvSpPr>
          <p:cNvPr id="7" name="text-6">
            <a:extLst xmlns:a="http://schemas.openxmlformats.org/drawingml/2006/main">
              <a:ext uri="{FF2B5EF4-FFF2-40B4-BE49-F238E27FC236}">
                <a16:creationId xmlns:a16="http://schemas.microsoft.com/office/drawing/2014/main" id="{A5EE9EE2-08A8-4A64-8B4F-B1451616EC4E}"/>
              </a:ext>
            </a:extLst>
          </p:cNvPr>
          <p:cNvSpPr>
            <a:spLocks xmlns:a="http://schemas.openxmlformats.org/drawingml/2006/main" noGrp="1"/>
          </p:cNvSpPr>
          <p:nvPr/>
        </p:nvSpPr>
        <p:spPr>
          <a:xfrm xmlns:a="http://schemas.openxmlformats.org/drawingml/2006/main">
            <a:off x="609600" y="4762500"/>
            <a:ext cx="4714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506476"/>
                </a:solidFill>
                <a:latin typeface="Arial"/>
                <a:ea typeface="Arial"/>
                <a:cs typeface="Arial"/>
              </a:defRPr>
            </a:defPPr>
          </a:lstStyle>
          <a:p xmlns:a="http://schemas.openxmlformats.org/drawingml/2006/main">
            <a:pPr>
              <a:defRPr sz="2025" b="0">
                <a:solidFill>
                  <a:srgbClr val="506476"/>
                </a:solidFill>
                <a:latin typeface="Arial"/>
                <a:ea typeface="Arial"/>
                <a:cs typeface="Arial"/>
              </a:defRPr>
            </a:pPr>
            <a:r>
              <a:rPr sz="2025" b="0">
                <a:solidFill>
                  <a:srgbClr val="506476"/>
                </a:solidFill>
                <a:latin typeface="Arial"/>
                <a:ea typeface="Arial"/>
                <a:cs typeface="Arial"/>
              </a:rPr>
              <a:t>The replay uses real saved runs and makes no new model or database call.</a:t>
            </a:r>
          </a:p>
        </p:txBody>
      </p:sp>
      <p:pic>
        <p:nvPicPr>
          <p:cNvPr id="8" name="">
            <a:extLst xmlns:a="http://schemas.openxmlformats.org/drawingml/2006/main">
              <a:ext uri="{FF2B5EF4-FFF2-40B4-BE49-F238E27FC236}">
                <a16:creationId xmlns:a16="http://schemas.microsoft.com/office/drawing/2014/main" id="{70737560-90A4-4DE9-800F-030F41EE8FA2}"/>
              </a:ext>
            </a:extLst>
          </p:cNvPr>
          <p:cNvPicPr>
            <a:picLocks xmlns:a="http://schemas.openxmlformats.org/drawingml/2006/main" noChangeAspect="1"/>
          </p:cNvPicPr>
          <p:nvPr/>
        </p:nvPicPr>
        <p:blipFill>
          <a:blip xmlns:r="http://schemas.openxmlformats.org/officeDocument/2006/relationships" xmlns:a="http://schemas.openxmlformats.org/drawingml/2006/main" r:embed="Rf6b61072f14240b9"/>
          <a:stretch xmlns:a="http://schemas.openxmlformats.org/drawingml/2006/main"/>
        </p:blipFill>
        <p:spPr>
          <a:xfrm xmlns:a="http://schemas.openxmlformats.org/drawingml/2006/main">
            <a:off x="5907312" y="2000250"/>
            <a:ext cx="5673275" cy="3676650"/>
          </a:xfrm>
          <a:prstGeom xmlns:a="http://schemas.openxmlformats.org/drawingml/2006/main" prst="rect">
            <a:avLst/>
          </a:prstGeom>
        </p:spPr>
      </p:pic>
    </p:spTree>
    <p:extLst>
      <p:ext uri="{BB962C8B-B14F-4D97-AF65-F5344CB8AC3E}">
        <p14:creationId xmlns:p14="http://schemas.microsoft.com/office/powerpoint/2010/main" val="596613724"/>
      </p:ext>
    </p:extLst>
  </p:cSld>
</p:sld>
</file>

<file path=ppt/slides/slide1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A94054F-CC06-4D45-99F8-239B04030A1C}"/>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5A0E7889-06F2-47D8-BAD9-6F9C6B2DBA11}"/>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Human completeness improves by only 0.11 points</a:t>
            </a:r>
          </a:p>
        </p:txBody>
      </p:sp>
      <p:sp>
        <p:nvSpPr>
          <p:cNvPr id="3" name="text-2">
            <a:extLst xmlns:a="http://schemas.openxmlformats.org/drawingml/2006/main">
              <a:ext uri="{FF2B5EF4-FFF2-40B4-BE49-F238E27FC236}">
                <a16:creationId xmlns:a16="http://schemas.microsoft.com/office/drawing/2014/main" id="{10254139-B5AD-487B-9F02-CA2C3CAE2C5E}"/>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43557AD2-B5B6-4459-A181-92D2B71A16EC}"/>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11</a:t>
            </a:r>
          </a:p>
        </p:txBody>
      </p:sp>
      <p:graphicFrame>
        <p:nvGraphicFramePr>
          <p:cNvPr id="5" name="">
            <a:extLst xmlns:a="http://schemas.openxmlformats.org/drawingml/2006/main">
              <a:ext uri="{FF2B5EF4-FFF2-40B4-BE49-F238E27FC236}">
                <a16:creationId xmlns:a16="http://schemas.microsoft.com/office/drawing/2014/main" id="{8683A27B-1973-4B48-BC66-631FA35AB26C}"/>
              </a:ext>
            </a:extLst>
          </p:cNvPr>
          <p:cNvGraphicFramePr/>
          <p:nvPr/>
        </p:nvGraphicFramePr>
        <p:xfrm>
          <a:off xmlns:a="http://schemas.openxmlformats.org/drawingml/2006/main" x="609600" y="2038350"/>
          <a:ext xmlns:a="http://schemas.openxmlformats.org/drawingml/2006/main" cx="10972800" cy="3209925"/>
        </p:xfrm>
        <a:graphic xmlns:a="http://schemas.openxmlformats.org/drawingml/2006/main">
          <a:graphicData uri="http://schemas.openxmlformats.org/drawingml/2006/table">
            <a:tbl>
              <a:tblPr/>
              <a:tblGrid>
                <a:gridCol w="3333750"/>
                <a:gridCol w="2514600"/>
                <a:gridCol w="2609850"/>
                <a:gridCol w="2514600"/>
              </a:tblGrid>
              <a:tr h="641985">
                <a:tc>
                  <a:txBody>
                    <a:bodyPr/>
                    <a:lstStyle/>
                    <a:p>
                      <a:r>
                        <a:rPr sz="1800" b="1">
                          <a:solidFill>
                            <a:srgbClr val="FFFFFF"/>
                          </a:solidFill>
                          <a:latin typeface="Arial"/>
                          <a:ea typeface="Arial"/>
                          <a:cs typeface="Arial"/>
                        </a:rPr>
                        <a:t>Condition</a:t>
                      </a:r>
                    </a:p>
                  </a:txBody>
                  <a:tcPr marL="133350" marR="133350" marT="95250" marB="95250" anchor="ctr">
                    <a:lnL w="5715">
                      <a:solidFill>
                        <a:srgbClr val="D5E0E6"/>
                      </a:solidFill>
                      <a:prstDash val="solid"/>
                    </a:lnL>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800" b="1">
                          <a:solidFill>
                            <a:srgbClr val="FFFFFF"/>
                          </a:solidFill>
                          <a:latin typeface="Arial"/>
                          <a:ea typeface="Arial"/>
                          <a:cs typeface="Arial"/>
                        </a:rPr>
                        <a:t>Factuality</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800" b="1">
                          <a:solidFill>
                            <a:srgbClr val="FFFFFF"/>
                          </a:solidFill>
                          <a:latin typeface="Arial"/>
                          <a:ea typeface="Arial"/>
                          <a:cs typeface="Arial"/>
                        </a:rPr>
                        <a:t>Completeness</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800" b="1">
                          <a:solidFill>
                            <a:srgbClr val="FFFFFF"/>
                          </a:solidFill>
                          <a:latin typeface="Arial"/>
                          <a:ea typeface="Arial"/>
                          <a:cs typeface="Arial"/>
                        </a:rPr>
                        <a:t>Coherence</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r>
              <a:tr h="641985">
                <a:tc>
                  <a:txBody>
                    <a:bodyPr/>
                    <a:lstStyle/>
                    <a:p>
                      <a:r>
                        <a:rPr sz="1800">
                          <a:solidFill>
                            <a:srgbClr val="15374B"/>
                          </a:solidFill>
                          <a:latin typeface="Arial"/>
                          <a:ea typeface="Arial"/>
                          <a:cs typeface="Arial"/>
                        </a:rPr>
                        <a:t>Text only</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2.944 (18/20)</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1.889 (18/20)</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3.833 (18/20)</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641985">
                <a:tc>
                  <a:txBody>
                    <a:bodyPr/>
                    <a:lstStyle/>
                    <a:p>
                      <a:r>
                        <a:rPr sz="1800">
                          <a:solidFill>
                            <a:srgbClr val="15374B"/>
                          </a:solidFill>
                          <a:latin typeface="Arial"/>
                          <a:ea typeface="Arial"/>
                          <a:cs typeface="Arial"/>
                        </a:rPr>
                        <a:t>Graph only</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3.500 (20/20)</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1.900 (20/20)</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4.000 (20/20)</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r h="641985">
                <a:tc>
                  <a:txBody>
                    <a:bodyPr/>
                    <a:lstStyle/>
                    <a:p>
                      <a:r>
                        <a:rPr sz="1800">
                          <a:solidFill>
                            <a:srgbClr val="15374B"/>
                          </a:solidFill>
                          <a:latin typeface="Arial"/>
                          <a:ea typeface="Arial"/>
                          <a:cs typeface="Arial"/>
                        </a:rPr>
                        <a:t>No Node2Vec</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3.529 (17/20)</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2.000 (17/20)</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3.882 (17/20)</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641985">
                <a:tc>
                  <a:txBody>
                    <a:bodyPr/>
                    <a:lstStyle/>
                    <a:p>
                      <a:r>
                        <a:rPr sz="1800">
                          <a:solidFill>
                            <a:srgbClr val="15374B"/>
                          </a:solidFill>
                          <a:latin typeface="Arial"/>
                          <a:ea typeface="Arial"/>
                          <a:cs typeface="Arial"/>
                        </a:rPr>
                        <a:t>Full hybrid</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3.350 (20/20)</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2.000 (20/20)</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3.900 (20/20)</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1F80F28F-F74A-42C1-A45B-D652C0A893C2}"/>
              </a:ext>
            </a:extLst>
          </p:cNvPr>
          <p:cNvSpPr>
            <a:spLocks xmlns:a="http://schemas.openxmlformats.org/drawingml/2006/main" noGrp="1"/>
          </p:cNvSpPr>
          <p:nvPr/>
        </p:nvSpPr>
        <p:spPr>
          <a:xfrm xmlns:a="http://schemas.openxmlformats.org/drawingml/2006/main">
            <a:off x="609600" y="5486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506476"/>
                </a:solidFill>
                <a:latin typeface="Arial"/>
                <a:ea typeface="Arial"/>
                <a:cs typeface="Arial"/>
              </a:defRPr>
            </a:defPPr>
          </a:lstStyle>
          <a:p xmlns:a="http://schemas.openxmlformats.org/drawingml/2006/main">
            <a:pPr>
              <a:defRPr sz="1800" b="0">
                <a:solidFill>
                  <a:srgbClr val="506476"/>
                </a:solidFill>
                <a:latin typeface="Arial"/>
                <a:ea typeface="Arial"/>
                <a:cs typeface="Arial"/>
              </a:defRPr>
            </a:pPr>
            <a:r>
              <a:rPr sz="1800" b="0">
                <a:solidFill>
                  <a:srgbClr val="506476"/>
                </a:solidFill>
                <a:latin typeface="Arial"/>
                <a:ea typeface="Arial"/>
                <a:cs typeface="Arial"/>
              </a:rPr>
              <a:t>Primary means on a 1–5 scale. Parentheses show numeric entries out of 20.</a:t>
            </a:r>
          </a:p>
        </p:txBody>
      </p:sp>
      <p:sp>
        <p:nvSpPr>
          <p:cNvPr id="7" name="text-5">
            <a:extLst xmlns:a="http://schemas.openxmlformats.org/drawingml/2006/main">
              <a:ext uri="{FF2B5EF4-FFF2-40B4-BE49-F238E27FC236}">
                <a16:creationId xmlns:a16="http://schemas.microsoft.com/office/drawing/2014/main" id="{30665B37-5840-4CE9-A320-3AA8E1A23C4B}"/>
              </a:ext>
            </a:extLst>
          </p:cNvPr>
          <p:cNvSpPr>
            <a:spLocks xmlns:a="http://schemas.openxmlformats.org/drawingml/2006/main" noGrp="1"/>
          </p:cNvSpPr>
          <p:nvPr/>
        </p:nvSpPr>
        <p:spPr>
          <a:xfrm xmlns:a="http://schemas.openxmlformats.org/drawingml/2006/main">
            <a:off x="609600" y="593407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17647B"/>
                </a:solidFill>
                <a:latin typeface="Arial"/>
                <a:ea typeface="Arial"/>
                <a:cs typeface="Arial"/>
              </a:defRPr>
            </a:defPPr>
          </a:lstStyle>
          <a:p xmlns:a="http://schemas.openxmlformats.org/drawingml/2006/main">
            <a:pPr>
              <a:defRPr sz="1875" b="1">
                <a:solidFill>
                  <a:srgbClr val="17647B"/>
                </a:solidFill>
                <a:latin typeface="Arial"/>
                <a:ea typeface="Arial"/>
                <a:cs typeface="Arial"/>
              </a:defRPr>
            </a:pPr>
            <a:r>
              <a:rPr sz="1875" b="1">
                <a:solidFill>
                  <a:srgbClr val="17647B"/>
                </a:solidFill>
                <a:latin typeface="Arial"/>
                <a:ea typeface="Arial"/>
                <a:cs typeface="Arial"/>
              </a:rPr>
              <a:t>Full hybrid misses the proposed completeness gain of 0.50 points.</a:t>
            </a:r>
          </a:p>
        </p:txBody>
      </p:sp>
    </p:spTree>
    <p:extLst>
      <p:ext uri="{BB962C8B-B14F-4D97-AF65-F5344CB8AC3E}">
        <p14:creationId xmlns:p14="http://schemas.microsoft.com/office/powerpoint/2010/main" val="1271667789"/>
      </p:ext>
    </p:extLst>
  </p:cSld>
</p:sld>
</file>

<file path=ppt/slides/slide1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7492BEB-8AB6-4EA5-9F2A-1B1A47F6BFFD}"/>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3CFF5F01-E408-439D-90B0-D00C26297BF8}"/>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Automatic means have unequal score availability</a:t>
            </a:r>
          </a:p>
        </p:txBody>
      </p:sp>
      <p:sp>
        <p:nvSpPr>
          <p:cNvPr id="3" name="text-2">
            <a:extLst xmlns:a="http://schemas.openxmlformats.org/drawingml/2006/main">
              <a:ext uri="{FF2B5EF4-FFF2-40B4-BE49-F238E27FC236}">
                <a16:creationId xmlns:a16="http://schemas.microsoft.com/office/drawing/2014/main" id="{1D442CFA-2EC7-4659-8808-BA8D07DCB6C7}"/>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5B261708-118D-4A45-8C33-C9B9D6E543BF}"/>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0C376440-E8FC-42E8-BE6A-657AE1BA914C}"/>
              </a:ext>
            </a:extLst>
          </p:cNvPr>
          <p:cNvGraphicFramePr/>
          <p:nvPr/>
        </p:nvGraphicFramePr>
        <p:xfrm>
          <a:off xmlns:a="http://schemas.openxmlformats.org/drawingml/2006/main" x="609600" y="2038350"/>
          <a:ext xmlns:a="http://schemas.openxmlformats.org/drawingml/2006/main" cx="10972800" cy="3209925"/>
        </p:xfrm>
        <a:graphic xmlns:a="http://schemas.openxmlformats.org/drawingml/2006/main">
          <a:graphicData uri="http://schemas.openxmlformats.org/drawingml/2006/table">
            <a:tbl>
              <a:tblPr/>
              <a:tblGrid>
                <a:gridCol w="3333750"/>
                <a:gridCol w="2514600"/>
                <a:gridCol w="2514600"/>
                <a:gridCol w="2609850"/>
              </a:tblGrid>
              <a:tr h="641985">
                <a:tc>
                  <a:txBody>
                    <a:bodyPr/>
                    <a:lstStyle/>
                    <a:p>
                      <a:r>
                        <a:rPr sz="1800" b="1">
                          <a:solidFill>
                            <a:srgbClr val="FFFFFF"/>
                          </a:solidFill>
                          <a:latin typeface="Arial"/>
                          <a:ea typeface="Arial"/>
                          <a:cs typeface="Arial"/>
                        </a:rPr>
                        <a:t>Condition</a:t>
                      </a:r>
                    </a:p>
                  </a:txBody>
                  <a:tcPr marL="133350" marR="133350" marT="95250" marB="95250" anchor="ctr">
                    <a:lnL w="5715">
                      <a:solidFill>
                        <a:srgbClr val="D5E0E6"/>
                      </a:solidFill>
                      <a:prstDash val="solid"/>
                    </a:lnL>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800" b="1">
                          <a:solidFill>
                            <a:srgbClr val="FFFFFF"/>
                          </a:solidFill>
                          <a:latin typeface="Arial"/>
                          <a:ea typeface="Arial"/>
                          <a:cs typeface="Arial"/>
                        </a:rPr>
                        <a:t>Faithfulness</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800" b="1">
                          <a:solidFill>
                            <a:srgbClr val="FFFFFF"/>
                          </a:solidFill>
                          <a:latin typeface="Arial"/>
                          <a:ea typeface="Arial"/>
                          <a:cs typeface="Arial"/>
                        </a:rPr>
                        <a:t>Relevancy</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800" b="1">
                          <a:solidFill>
                            <a:srgbClr val="FFFFFF"/>
                          </a:solidFill>
                          <a:latin typeface="Arial"/>
                          <a:ea typeface="Arial"/>
                          <a:cs typeface="Arial"/>
                        </a:rPr>
                        <a:t>Context recall</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r>
              <a:tr h="641985">
                <a:tc>
                  <a:txBody>
                    <a:bodyPr/>
                    <a:lstStyle/>
                    <a:p>
                      <a:r>
                        <a:rPr sz="1800">
                          <a:solidFill>
                            <a:srgbClr val="15374B"/>
                          </a:solidFill>
                          <a:latin typeface="Arial"/>
                          <a:ea typeface="Arial"/>
                          <a:cs typeface="Arial"/>
                        </a:rPr>
                        <a:t>Text only</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0.568 (40/60)</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0.555 (54/60)</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0.659 (54/60)</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641985">
                <a:tc>
                  <a:txBody>
                    <a:bodyPr/>
                    <a:lstStyle/>
                    <a:p>
                      <a:r>
                        <a:rPr sz="1800">
                          <a:solidFill>
                            <a:srgbClr val="15374B"/>
                          </a:solidFill>
                          <a:latin typeface="Arial"/>
                          <a:ea typeface="Arial"/>
                          <a:cs typeface="Arial"/>
                        </a:rPr>
                        <a:t>Graph only</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0.503 (53/60)</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0.335 (60/60)</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0.610 (57/60)</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r h="641985">
                <a:tc>
                  <a:txBody>
                    <a:bodyPr/>
                    <a:lstStyle/>
                    <a:p>
                      <a:r>
                        <a:rPr sz="1800">
                          <a:solidFill>
                            <a:srgbClr val="15374B"/>
                          </a:solidFill>
                          <a:latin typeface="Arial"/>
                          <a:ea typeface="Arial"/>
                          <a:cs typeface="Arial"/>
                        </a:rPr>
                        <a:t>No Node2Vec</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0.598 (47/60)</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0.493 (53/60)</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0.593 (53/60)</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641985">
                <a:tc>
                  <a:txBody>
                    <a:bodyPr/>
                    <a:lstStyle/>
                    <a:p>
                      <a:r>
                        <a:rPr sz="1800">
                          <a:solidFill>
                            <a:srgbClr val="15374B"/>
                          </a:solidFill>
                          <a:latin typeface="Arial"/>
                          <a:ea typeface="Arial"/>
                          <a:cs typeface="Arial"/>
                        </a:rPr>
                        <a:t>Full hybrid</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0.626 (52/60)</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0.486 (58/60)</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0.710 (58/60)</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EE495DAA-814C-48B7-B594-7F8CEF929F32}"/>
              </a:ext>
            </a:extLst>
          </p:cNvPr>
          <p:cNvSpPr>
            <a:spLocks xmlns:a="http://schemas.openxmlformats.org/drawingml/2006/main" noGrp="1"/>
          </p:cNvSpPr>
          <p:nvPr/>
        </p:nvSpPr>
        <p:spPr>
          <a:xfrm xmlns:a="http://schemas.openxmlformats.org/drawingml/2006/main">
            <a:off x="609600" y="5486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506476"/>
                </a:solidFill>
                <a:latin typeface="Arial"/>
                <a:ea typeface="Arial"/>
                <a:cs typeface="Arial"/>
              </a:defRPr>
            </a:defPPr>
          </a:lstStyle>
          <a:p xmlns:a="http://schemas.openxmlformats.org/drawingml/2006/main">
            <a:pPr>
              <a:defRPr sz="1800" b="0">
                <a:solidFill>
                  <a:srgbClr val="506476"/>
                </a:solidFill>
                <a:latin typeface="Arial"/>
                <a:ea typeface="Arial"/>
                <a:cs typeface="Arial"/>
              </a:defRPr>
            </a:pPr>
            <a:r>
              <a:rPr sz="1800" b="0">
                <a:solidFill>
                  <a:srgbClr val="506476"/>
                </a:solidFill>
                <a:latin typeface="Arial"/>
                <a:ea typeface="Arial"/>
                <a:cs typeface="Arial"/>
              </a:rPr>
              <a:t>Means on a 0–1 scale. Parentheses show numeric scores out of 60.</a:t>
            </a:r>
          </a:p>
        </p:txBody>
      </p:sp>
      <p:sp>
        <p:nvSpPr>
          <p:cNvPr id="7" name="text-5">
            <a:extLst xmlns:a="http://schemas.openxmlformats.org/drawingml/2006/main">
              <a:ext uri="{FF2B5EF4-FFF2-40B4-BE49-F238E27FC236}">
                <a16:creationId xmlns:a16="http://schemas.microsoft.com/office/drawing/2014/main" id="{2DB7EF2A-3DD9-4D22-AA37-039C12DF7756}"/>
              </a:ext>
            </a:extLst>
          </p:cNvPr>
          <p:cNvSpPr>
            <a:spLocks xmlns:a="http://schemas.openxmlformats.org/drawingml/2006/main" noGrp="1"/>
          </p:cNvSpPr>
          <p:nvPr/>
        </p:nvSpPr>
        <p:spPr>
          <a:xfrm xmlns:a="http://schemas.openxmlformats.org/drawingml/2006/main">
            <a:off x="609600" y="59150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506476"/>
                </a:solidFill>
                <a:latin typeface="Arial"/>
                <a:ea typeface="Arial"/>
                <a:cs typeface="Arial"/>
              </a:defRPr>
            </a:defPPr>
          </a:lstStyle>
          <a:p xmlns:a="http://schemas.openxmlformats.org/drawingml/2006/main">
            <a:pPr>
              <a:defRPr sz="1725" b="0">
                <a:solidFill>
                  <a:srgbClr val="506476"/>
                </a:solidFill>
                <a:latin typeface="Arial"/>
                <a:ea typeface="Arial"/>
                <a:cs typeface="Arial"/>
              </a:defRPr>
            </a:pPr>
            <a:r>
              <a:rPr sz="1725" b="0">
                <a:solidFill>
                  <a:srgbClr val="506476"/>
                </a:solidFill>
                <a:latin typeface="Arial"/>
                <a:ea typeface="Arial"/>
                <a:cs typeface="Arial"/>
              </a:rPr>
              <a:t>Judge failures and generator failures limit comparisons between available means.</a:t>
            </a:r>
          </a:p>
        </p:txBody>
      </p:sp>
    </p:spTree>
    <p:extLst>
      <p:ext uri="{BB962C8B-B14F-4D97-AF65-F5344CB8AC3E}">
        <p14:creationId xmlns:p14="http://schemas.microsoft.com/office/powerpoint/2010/main" val="170922948"/>
      </p:ext>
    </p:extLst>
  </p:cSld>
</p:sld>
</file>

<file path=ppt/slides/slide1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59E34E1-47AD-467F-98E4-1660990E5AF9}"/>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DF098025-66F9-4D24-AF03-6CCF3C55C15F}"/>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Paired effects do not establish a general advantage</a:t>
            </a:r>
          </a:p>
        </p:txBody>
      </p:sp>
      <p:sp>
        <p:nvSpPr>
          <p:cNvPr id="3" name="text-2">
            <a:extLst xmlns:a="http://schemas.openxmlformats.org/drawingml/2006/main">
              <a:ext uri="{FF2B5EF4-FFF2-40B4-BE49-F238E27FC236}">
                <a16:creationId xmlns:a16="http://schemas.microsoft.com/office/drawing/2014/main" id="{DAE5EFE5-74BB-4307-B454-921CB3543FFA}"/>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F5390FD2-231A-4158-81F8-7549DE5B1767}"/>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13</a:t>
            </a:r>
          </a:p>
        </p:txBody>
      </p:sp>
      <p:graphicFrame>
        <p:nvGraphicFramePr>
          <p:cNvPr id="5" name="">
            <a:extLst xmlns:a="http://schemas.openxmlformats.org/drawingml/2006/main">
              <a:ext uri="{FF2B5EF4-FFF2-40B4-BE49-F238E27FC236}">
                <a16:creationId xmlns:a16="http://schemas.microsoft.com/office/drawing/2014/main" id="{E0554315-A23E-4228-A345-0C18A206B8AE}"/>
              </a:ext>
            </a:extLst>
          </p:cNvPr>
          <p:cNvGraphicFramePr/>
          <p:nvPr/>
        </p:nvGraphicFramePr>
        <p:xfrm>
          <a:off xmlns:a="http://schemas.openxmlformats.org/drawingml/2006/main" x="609600" y="2038350"/>
          <a:ext xmlns:a="http://schemas.openxmlformats.org/drawingml/2006/main" cx="10972800" cy="3124200"/>
        </p:xfrm>
        <a:graphic xmlns:a="http://schemas.openxmlformats.org/drawingml/2006/main">
          <a:graphicData uri="http://schemas.openxmlformats.org/drawingml/2006/table">
            <a:tbl>
              <a:tblPr/>
              <a:tblGrid>
                <a:gridCol w="3524250"/>
                <a:gridCol w="1428750"/>
                <a:gridCol w="2095500"/>
                <a:gridCol w="3924300"/>
              </a:tblGrid>
              <a:tr h="624840">
                <a:tc>
                  <a:txBody>
                    <a:bodyPr/>
                    <a:lstStyle/>
                    <a:p>
                      <a:r>
                        <a:rPr sz="1725" b="1">
                          <a:solidFill>
                            <a:srgbClr val="FFFFFF"/>
                          </a:solidFill>
                          <a:latin typeface="Arial"/>
                          <a:ea typeface="Arial"/>
                          <a:cs typeface="Arial"/>
                        </a:rPr>
                        <a:t>Hybrid minus text</a:t>
                      </a:r>
                    </a:p>
                  </a:txBody>
                  <a:tcPr marL="133350" marR="133350" marT="95250" marB="95250" anchor="ctr">
                    <a:lnL w="5715">
                      <a:solidFill>
                        <a:srgbClr val="D5E0E6"/>
                      </a:solidFill>
                      <a:prstDash val="solid"/>
                    </a:lnL>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725" b="1">
                          <a:solidFill>
                            <a:srgbClr val="FFFFFF"/>
                          </a:solidFill>
                          <a:latin typeface="Arial"/>
                          <a:ea typeface="Arial"/>
                          <a:cs typeface="Arial"/>
                        </a:rPr>
                        <a:t>Paired n/20</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725" b="1">
                          <a:solidFill>
                            <a:srgbClr val="FFFFFF"/>
                          </a:solidFill>
                          <a:latin typeface="Arial"/>
                          <a:ea typeface="Arial"/>
                          <a:cs typeface="Arial"/>
                        </a:rPr>
                        <a:t>Difference</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725" b="1">
                          <a:solidFill>
                            <a:srgbClr val="FFFFFF"/>
                          </a:solidFill>
                          <a:latin typeface="Arial"/>
                          <a:ea typeface="Arial"/>
                          <a:cs typeface="Arial"/>
                        </a:rPr>
                        <a:t>Exploratory 95% CI</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r>
              <a:tr h="624840">
                <a:tc>
                  <a:txBody>
                    <a:bodyPr/>
                    <a:lstStyle/>
                    <a:p>
                      <a:r>
                        <a:rPr sz="1725">
                          <a:solidFill>
                            <a:srgbClr val="15374B"/>
                          </a:solidFill>
                          <a:latin typeface="Arial"/>
                          <a:ea typeface="Arial"/>
                          <a:cs typeface="Arial"/>
                        </a:rPr>
                        <a:t>Human factuality</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725">
                          <a:solidFill>
                            <a:srgbClr val="15374B"/>
                          </a:solidFill>
                          <a:latin typeface="Arial"/>
                          <a:ea typeface="Arial"/>
                          <a:cs typeface="Arial"/>
                        </a:rPr>
                        <a:t>18</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725">
                          <a:solidFill>
                            <a:srgbClr val="15374B"/>
                          </a:solidFill>
                          <a:latin typeface="Arial"/>
                          <a:ea typeface="Arial"/>
                          <a:cs typeface="Arial"/>
                        </a:rPr>
                        <a:t>+0.444</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725">
                          <a:solidFill>
                            <a:srgbClr val="15374B"/>
                          </a:solidFill>
                          <a:latin typeface="Arial"/>
                          <a:ea typeface="Arial"/>
                          <a:cs typeface="Arial"/>
                        </a:rPr>
                        <a:t>[-0.056, 0.944]</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624840">
                <a:tc>
                  <a:txBody>
                    <a:bodyPr/>
                    <a:lstStyle/>
                    <a:p>
                      <a:r>
                        <a:rPr sz="1725">
                          <a:solidFill>
                            <a:srgbClr val="15374B"/>
                          </a:solidFill>
                          <a:latin typeface="Arial"/>
                          <a:ea typeface="Arial"/>
                          <a:cs typeface="Arial"/>
                        </a:rPr>
                        <a:t>Human completeness</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1725">
                          <a:solidFill>
                            <a:srgbClr val="15374B"/>
                          </a:solidFill>
                          <a:latin typeface="Arial"/>
                          <a:ea typeface="Arial"/>
                          <a:cs typeface="Arial"/>
                        </a:rPr>
                        <a:t>18</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725">
                          <a:solidFill>
                            <a:srgbClr val="15374B"/>
                          </a:solidFill>
                          <a:latin typeface="Arial"/>
                          <a:ea typeface="Arial"/>
                          <a:cs typeface="Arial"/>
                        </a:rPr>
                        <a:t>+0.167</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725">
                          <a:solidFill>
                            <a:srgbClr val="15374B"/>
                          </a:solidFill>
                          <a:latin typeface="Arial"/>
                          <a:ea typeface="Arial"/>
                          <a:cs typeface="Arial"/>
                        </a:rPr>
                        <a:t>[-0.278, 0.611]</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r h="624840">
                <a:tc>
                  <a:txBody>
                    <a:bodyPr/>
                    <a:lstStyle/>
                    <a:p>
                      <a:r>
                        <a:rPr sz="1725">
                          <a:solidFill>
                            <a:srgbClr val="15374B"/>
                          </a:solidFill>
                          <a:latin typeface="Arial"/>
                          <a:ea typeface="Arial"/>
                          <a:cs typeface="Arial"/>
                        </a:rPr>
                        <a:t>Human coherence</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725">
                          <a:solidFill>
                            <a:srgbClr val="15374B"/>
                          </a:solidFill>
                          <a:latin typeface="Arial"/>
                          <a:ea typeface="Arial"/>
                          <a:cs typeface="Arial"/>
                        </a:rPr>
                        <a:t>18</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725">
                          <a:solidFill>
                            <a:srgbClr val="15374B"/>
                          </a:solidFill>
                          <a:latin typeface="Arial"/>
                          <a:ea typeface="Arial"/>
                          <a:cs typeface="Arial"/>
                        </a:rPr>
                        <a:t>+0.056</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725">
                          <a:solidFill>
                            <a:srgbClr val="15374B"/>
                          </a:solidFill>
                          <a:latin typeface="Arial"/>
                          <a:ea typeface="Arial"/>
                          <a:cs typeface="Arial"/>
                        </a:rPr>
                        <a:t>[0.000, 0.167]</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624840">
                <a:tc>
                  <a:txBody>
                    <a:bodyPr/>
                    <a:lstStyle/>
                    <a:p>
                      <a:r>
                        <a:rPr sz="1725">
                          <a:solidFill>
                            <a:srgbClr val="15374B"/>
                          </a:solidFill>
                          <a:latin typeface="Arial"/>
                          <a:ea typeface="Arial"/>
                          <a:cs typeface="Arial"/>
                        </a:rPr>
                        <a:t>Auto faithfulness</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1725">
                          <a:solidFill>
                            <a:srgbClr val="15374B"/>
                          </a:solidFill>
                          <a:latin typeface="Arial"/>
                          <a:ea typeface="Arial"/>
                          <a:cs typeface="Arial"/>
                        </a:rPr>
                        <a:t>9</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725">
                          <a:solidFill>
                            <a:srgbClr val="15374B"/>
                          </a:solidFill>
                          <a:latin typeface="Arial"/>
                          <a:ea typeface="Arial"/>
                          <a:cs typeface="Arial"/>
                        </a:rPr>
                        <a:t>+0.124</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725">
                          <a:solidFill>
                            <a:srgbClr val="15374B"/>
                          </a:solidFill>
                          <a:latin typeface="Arial"/>
                          <a:ea typeface="Arial"/>
                          <a:cs typeface="Arial"/>
                        </a:rPr>
                        <a:t>[0.011, 0.240]</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9CE55DF0-EE9B-4D39-8A13-FD15D47EA370}"/>
              </a:ext>
            </a:extLst>
          </p:cNvPr>
          <p:cNvSpPr>
            <a:spLocks xmlns:a="http://schemas.openxmlformats.org/drawingml/2006/main" noGrp="1"/>
          </p:cNvSpPr>
          <p:nvPr/>
        </p:nvSpPr>
        <p:spPr>
          <a:xfrm xmlns:a="http://schemas.openxmlformats.org/drawingml/2006/main">
            <a:off x="609600" y="54483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506476"/>
                </a:solidFill>
                <a:latin typeface="Arial"/>
                <a:ea typeface="Arial"/>
                <a:cs typeface="Arial"/>
              </a:defRPr>
            </a:defPPr>
          </a:lstStyle>
          <a:p xmlns:a="http://schemas.openxmlformats.org/drawingml/2006/main">
            <a:pPr>
              <a:defRPr sz="1800" b="0">
                <a:solidFill>
                  <a:srgbClr val="506476"/>
                </a:solidFill>
                <a:latin typeface="Arial"/>
                <a:ea typeface="Arial"/>
                <a:cs typeface="Arial"/>
              </a:defRPr>
            </a:pPr>
            <a:r>
              <a:rPr sz="1800" b="0">
                <a:solidFill>
                  <a:srgbClr val="506476"/>
                </a:solidFill>
                <a:latin typeface="Arial"/>
                <a:ea typeface="Arial"/>
                <a:cs typeface="Arial"/>
              </a:rPr>
              <a:t>Human scores use 1–5. Automatic faithfulness uses 0–1.</a:t>
            </a:r>
          </a:p>
        </p:txBody>
      </p:sp>
      <p:sp>
        <p:nvSpPr>
          <p:cNvPr id="7" name="text-5">
            <a:extLst xmlns:a="http://schemas.openxmlformats.org/drawingml/2006/main">
              <a:ext uri="{FF2B5EF4-FFF2-40B4-BE49-F238E27FC236}">
                <a16:creationId xmlns:a16="http://schemas.microsoft.com/office/drawing/2014/main" id="{63DB3E22-E711-4B90-A8AF-A85F964F92CD}"/>
              </a:ext>
            </a:extLst>
          </p:cNvPr>
          <p:cNvSpPr>
            <a:spLocks xmlns:a="http://schemas.openxmlformats.org/drawingml/2006/main" noGrp="1"/>
          </p:cNvSpPr>
          <p:nvPr/>
        </p:nvSpPr>
        <p:spPr>
          <a:xfrm xmlns:a="http://schemas.openxmlformats.org/drawingml/2006/main">
            <a:off x="609600" y="59150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1">
                <a:solidFill>
                  <a:srgbClr val="17647B"/>
                </a:solidFill>
                <a:latin typeface="Arial"/>
                <a:ea typeface="Arial"/>
                <a:cs typeface="Arial"/>
              </a:defRPr>
            </a:defPPr>
          </a:lstStyle>
          <a:p xmlns:a="http://schemas.openxmlformats.org/drawingml/2006/main">
            <a:pPr>
              <a:defRPr sz="1950" b="1">
                <a:solidFill>
                  <a:srgbClr val="17647B"/>
                </a:solidFill>
                <a:latin typeface="Arial"/>
                <a:ea typeface="Arial"/>
                <a:cs typeface="Arial"/>
              </a:defRPr>
            </a:pPr>
            <a:r>
              <a:rPr sz="1950" b="1">
                <a:solidFill>
                  <a:srgbClr val="17647B"/>
                </a:solidFill>
                <a:latin typeface="Arial"/>
                <a:ea typeface="Arial"/>
                <a:cs typeface="Arial"/>
              </a:rPr>
              <a:t>The QA target and extraction F1 target both remain unmet.</a:t>
            </a:r>
          </a:p>
        </p:txBody>
      </p:sp>
    </p:spTree>
    <p:extLst>
      <p:ext uri="{BB962C8B-B14F-4D97-AF65-F5344CB8AC3E}">
        <p14:creationId xmlns:p14="http://schemas.microsoft.com/office/powerpoint/2010/main" val="1758023505"/>
      </p:ext>
    </p:extLst>
  </p:cSld>
</p:sld>
</file>

<file path=ppt/slides/slide1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2811507-6B0D-4F21-B481-D610C1739B80}"/>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42C6176A-BBC0-4FFE-9B9C-4BC561B4C733}"/>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Delayed scores show mixed consistency</a:t>
            </a:r>
          </a:p>
        </p:txBody>
      </p:sp>
      <p:sp>
        <p:nvSpPr>
          <p:cNvPr id="3" name="text-2">
            <a:extLst xmlns:a="http://schemas.openxmlformats.org/drawingml/2006/main">
              <a:ext uri="{FF2B5EF4-FFF2-40B4-BE49-F238E27FC236}">
                <a16:creationId xmlns:a16="http://schemas.microsoft.com/office/drawing/2014/main" id="{87DA1E9B-78D6-4A4F-A91B-7726F70894B5}"/>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85793F38-47F3-4027-8AD3-C8108B8CFB5B}"/>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F5A754FA-46D1-4779-9D6A-E0BCAB900246}"/>
              </a:ext>
            </a:extLst>
          </p:cNvPr>
          <p:cNvGraphicFramePr/>
          <p:nvPr/>
        </p:nvGraphicFramePr>
        <p:xfrm>
          <a:off xmlns:a="http://schemas.openxmlformats.org/drawingml/2006/main" x="609600" y="2038350"/>
          <a:ext xmlns:a="http://schemas.openxmlformats.org/drawingml/2006/main" cx="10972800" cy="2667000"/>
        </p:xfrm>
        <a:graphic xmlns:a="http://schemas.openxmlformats.org/drawingml/2006/main">
          <a:graphicData uri="http://schemas.openxmlformats.org/drawingml/2006/table">
            <a:tbl>
              <a:tblPr/>
              <a:tblGrid>
                <a:gridCol w="2857500"/>
                <a:gridCol w="1238250"/>
                <a:gridCol w="1952625"/>
                <a:gridCol w="1952625"/>
                <a:gridCol w="2971800"/>
              </a:tblGrid>
              <a:tr h="666750">
                <a:tc>
                  <a:txBody>
                    <a:bodyPr/>
                    <a:lstStyle/>
                    <a:p>
                      <a:r>
                        <a:rPr sz="1875" b="1">
                          <a:solidFill>
                            <a:srgbClr val="FFFFFF"/>
                          </a:solidFill>
                          <a:latin typeface="Arial"/>
                          <a:ea typeface="Arial"/>
                          <a:cs typeface="Arial"/>
                        </a:rPr>
                        <a:t>Dimension</a:t>
                      </a:r>
                    </a:p>
                  </a:txBody>
                  <a:tcPr marL="133350" marR="133350" marT="95250" marB="95250" anchor="ctr">
                    <a:lnL w="5715">
                      <a:solidFill>
                        <a:srgbClr val="D5E0E6"/>
                      </a:solidFill>
                      <a:prstDash val="solid"/>
                    </a:lnL>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875" b="1">
                          <a:solidFill>
                            <a:srgbClr val="FFFFFF"/>
                          </a:solidFill>
                          <a:latin typeface="Arial"/>
                          <a:ea typeface="Arial"/>
                          <a:cs typeface="Arial"/>
                        </a:rPr>
                        <a:t>Pairs</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875" b="1">
                          <a:solidFill>
                            <a:srgbClr val="FFFFFF"/>
                          </a:solidFill>
                          <a:latin typeface="Arial"/>
                          <a:ea typeface="Arial"/>
                          <a:cs typeface="Arial"/>
                        </a:rPr>
                        <a:t>Exact</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875" b="1">
                          <a:solidFill>
                            <a:srgbClr val="FFFFFF"/>
                          </a:solidFill>
                          <a:latin typeface="Arial"/>
                          <a:ea typeface="Arial"/>
                          <a:cs typeface="Arial"/>
                        </a:rPr>
                        <a:t>Within 1</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875" b="1">
                          <a:solidFill>
                            <a:srgbClr val="FFFFFF"/>
                          </a:solidFill>
                          <a:latin typeface="Arial"/>
                          <a:ea typeface="Arial"/>
                          <a:cs typeface="Arial"/>
                        </a:rPr>
                        <a:t>Weighted kappa</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r>
              <a:tr h="666750">
                <a:tc>
                  <a:txBody>
                    <a:bodyPr/>
                    <a:lstStyle/>
                    <a:p>
                      <a:r>
                        <a:rPr sz="1875">
                          <a:solidFill>
                            <a:srgbClr val="15374B"/>
                          </a:solidFill>
                          <a:latin typeface="Arial"/>
                          <a:ea typeface="Arial"/>
                          <a:cs typeface="Arial"/>
                        </a:rPr>
                        <a:t>Factuality</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875">
                          <a:solidFill>
                            <a:srgbClr val="15374B"/>
                          </a:solidFill>
                          <a:latin typeface="Arial"/>
                          <a:ea typeface="Arial"/>
                          <a:cs typeface="Arial"/>
                        </a:rPr>
                        <a:t>19</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875">
                          <a:solidFill>
                            <a:srgbClr val="15374B"/>
                          </a:solidFill>
                          <a:latin typeface="Arial"/>
                          <a:ea typeface="Arial"/>
                          <a:cs typeface="Arial"/>
                        </a:rPr>
                        <a:t>21.1%</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875">
                          <a:solidFill>
                            <a:srgbClr val="15374B"/>
                          </a:solidFill>
                          <a:latin typeface="Arial"/>
                          <a:ea typeface="Arial"/>
                          <a:cs typeface="Arial"/>
                        </a:rPr>
                        <a:t>100.0%</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875">
                          <a:solidFill>
                            <a:srgbClr val="15374B"/>
                          </a:solidFill>
                          <a:latin typeface="Arial"/>
                          <a:ea typeface="Arial"/>
                          <a:cs typeface="Arial"/>
                        </a:rPr>
                        <a:t>0.275</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666750">
                <a:tc>
                  <a:txBody>
                    <a:bodyPr/>
                    <a:lstStyle/>
                    <a:p>
                      <a:r>
                        <a:rPr sz="1875">
                          <a:solidFill>
                            <a:srgbClr val="15374B"/>
                          </a:solidFill>
                          <a:latin typeface="Arial"/>
                          <a:ea typeface="Arial"/>
                          <a:cs typeface="Arial"/>
                        </a:rPr>
                        <a:t>Completeness</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1875">
                          <a:solidFill>
                            <a:srgbClr val="15374B"/>
                          </a:solidFill>
                          <a:latin typeface="Arial"/>
                          <a:ea typeface="Arial"/>
                          <a:cs typeface="Arial"/>
                        </a:rPr>
                        <a:t>19</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875">
                          <a:solidFill>
                            <a:srgbClr val="15374B"/>
                          </a:solidFill>
                          <a:latin typeface="Arial"/>
                          <a:ea typeface="Arial"/>
                          <a:cs typeface="Arial"/>
                        </a:rPr>
                        <a:t>78.9%</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875">
                          <a:solidFill>
                            <a:srgbClr val="15374B"/>
                          </a:solidFill>
                          <a:latin typeface="Arial"/>
                          <a:ea typeface="Arial"/>
                          <a:cs typeface="Arial"/>
                        </a:rPr>
                        <a:t>100.0%</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c>
                  <a:txBody>
                    <a:bodyPr/>
                    <a:lstStyle/>
                    <a:p>
                      <a:r>
                        <a:rPr sz="1875">
                          <a:solidFill>
                            <a:srgbClr val="15374B"/>
                          </a:solidFill>
                          <a:latin typeface="Arial"/>
                          <a:ea typeface="Arial"/>
                          <a:cs typeface="Arial"/>
                        </a:rPr>
                        <a:t>0.823</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r h="666750">
                <a:tc>
                  <a:txBody>
                    <a:bodyPr/>
                    <a:lstStyle/>
                    <a:p>
                      <a:r>
                        <a:rPr sz="1875">
                          <a:solidFill>
                            <a:srgbClr val="15374B"/>
                          </a:solidFill>
                          <a:latin typeface="Arial"/>
                          <a:ea typeface="Arial"/>
                          <a:cs typeface="Arial"/>
                        </a:rPr>
                        <a:t>Coherence</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875">
                          <a:solidFill>
                            <a:srgbClr val="15374B"/>
                          </a:solidFill>
                          <a:latin typeface="Arial"/>
                          <a:ea typeface="Arial"/>
                          <a:cs typeface="Arial"/>
                        </a:rPr>
                        <a:t>19</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875">
                          <a:solidFill>
                            <a:srgbClr val="15374B"/>
                          </a:solidFill>
                          <a:latin typeface="Arial"/>
                          <a:ea typeface="Arial"/>
                          <a:cs typeface="Arial"/>
                        </a:rPr>
                        <a:t>36.8%</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875">
                          <a:solidFill>
                            <a:srgbClr val="15374B"/>
                          </a:solidFill>
                          <a:latin typeface="Arial"/>
                          <a:ea typeface="Arial"/>
                          <a:cs typeface="Arial"/>
                        </a:rPr>
                        <a:t>89.5%</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c>
                  <a:txBody>
                    <a:bodyPr/>
                    <a:lstStyle/>
                    <a:p>
                      <a:r>
                        <a:rPr sz="1875">
                          <a:solidFill>
                            <a:srgbClr val="15374B"/>
                          </a:solidFill>
                          <a:latin typeface="Arial"/>
                          <a:ea typeface="Arial"/>
                          <a:cs typeface="Arial"/>
                        </a:rPr>
                        <a:t>0.153</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bl>
          </a:graphicData>
        </a:graphic>
      </p:graphicFrame>
      <p:sp>
        <p:nvSpPr>
          <p:cNvPr id="6" name="text-4">
            <a:extLst xmlns:a="http://schemas.openxmlformats.org/drawingml/2006/main">
              <a:ext uri="{FF2B5EF4-FFF2-40B4-BE49-F238E27FC236}">
                <a16:creationId xmlns:a16="http://schemas.microsoft.com/office/drawing/2014/main" id="{60C80B8A-FBA7-4708-A2D4-6C898C118A8D}"/>
              </a:ext>
            </a:extLst>
          </p:cNvPr>
          <p:cNvSpPr>
            <a:spLocks xmlns:a="http://schemas.openxmlformats.org/drawingml/2006/main" noGrp="1"/>
          </p:cNvSpPr>
          <p:nvPr/>
        </p:nvSpPr>
        <p:spPr>
          <a:xfrm xmlns:a="http://schemas.openxmlformats.org/drawingml/2006/main">
            <a:off x="609600" y="50863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15374B"/>
                </a:solidFill>
                <a:latin typeface="Arial"/>
                <a:ea typeface="Arial"/>
                <a:cs typeface="Arial"/>
              </a:defRPr>
            </a:defPPr>
          </a:lstStyle>
          <a:p xmlns:a="http://schemas.openxmlformats.org/drawingml/2006/main">
            <a:pPr>
              <a:defRPr sz="2025" b="0">
                <a:solidFill>
                  <a:srgbClr val="15374B"/>
                </a:solidFill>
                <a:latin typeface="Arial"/>
                <a:ea typeface="Arial"/>
                <a:cs typeface="Arial"/>
              </a:defRPr>
            </a:pPr>
            <a:r>
              <a:rPr sz="2025" b="0">
                <a:solidFill>
                  <a:srgbClr val="15374B"/>
                </a:solidFill>
                <a:latin typeface="Arial"/>
                <a:ea typeface="Arial"/>
                <a:cs typeface="Arial"/>
              </a:rPr>
              <a:t>There was limited AI assistance for review questions.</a:t>
            </a:r>
          </a:p>
        </p:txBody>
      </p:sp>
      <p:sp>
        <p:nvSpPr>
          <p:cNvPr id="7" name="text-5">
            <a:extLst xmlns:a="http://schemas.openxmlformats.org/drawingml/2006/main">
              <a:ext uri="{FF2B5EF4-FFF2-40B4-BE49-F238E27FC236}">
                <a16:creationId xmlns:a16="http://schemas.microsoft.com/office/drawing/2014/main" id="{0AE3D7A7-55C4-40F1-ACCA-9A4F566EEEEF}"/>
              </a:ext>
            </a:extLst>
          </p:cNvPr>
          <p:cNvSpPr>
            <a:spLocks xmlns:a="http://schemas.openxmlformats.org/drawingml/2006/main" noGrp="1"/>
          </p:cNvSpPr>
          <p:nvPr/>
        </p:nvSpPr>
        <p:spPr>
          <a:xfrm xmlns:a="http://schemas.openxmlformats.org/drawingml/2006/main">
            <a:off x="609600" y="57531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506476"/>
                </a:solidFill>
                <a:latin typeface="Arial"/>
                <a:ea typeface="Arial"/>
                <a:cs typeface="Arial"/>
              </a:defRPr>
            </a:defPPr>
          </a:lstStyle>
          <a:p xmlns:a="http://schemas.openxmlformats.org/drawingml/2006/main">
            <a:pPr>
              <a:defRPr sz="1800" b="0">
                <a:solidFill>
                  <a:srgbClr val="506476"/>
                </a:solidFill>
                <a:latin typeface="Arial"/>
                <a:ea typeface="Arial"/>
                <a:cs typeface="Arial"/>
              </a:defRPr>
            </a:pPr>
            <a:r>
              <a:rPr sz="1800" b="0">
                <a:solidFill>
                  <a:srgbClr val="506476"/>
                </a:solidFill>
                <a:latin typeface="Arial"/>
                <a:ea typeface="Arial"/>
                <a:cs typeface="Arial"/>
              </a:rPr>
              <a:t>Secondary scores were lower on average. These results describe within-reviewer consistency.</a:t>
            </a:r>
          </a:p>
        </p:txBody>
      </p:sp>
    </p:spTree>
    <p:extLst>
      <p:ext uri="{BB962C8B-B14F-4D97-AF65-F5344CB8AC3E}">
        <p14:creationId xmlns:p14="http://schemas.microsoft.com/office/powerpoint/2010/main" val="240269785"/>
      </p:ext>
    </p:extLst>
  </p:cSld>
</p:sld>
</file>

<file path=ppt/slides/slide1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B2A6931-304A-4893-8425-730082F68F25}"/>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A25FA2F1-83F9-4A6A-A401-0B2CB4E275D5}"/>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The result is an inspectable but limited prototype</a:t>
            </a:r>
          </a:p>
        </p:txBody>
      </p:sp>
      <p:sp>
        <p:nvSpPr>
          <p:cNvPr id="3" name="text-2">
            <a:extLst xmlns:a="http://schemas.openxmlformats.org/drawingml/2006/main">
              <a:ext uri="{FF2B5EF4-FFF2-40B4-BE49-F238E27FC236}">
                <a16:creationId xmlns:a16="http://schemas.microsoft.com/office/drawing/2014/main" id="{CE470641-D27A-46FC-B25E-9CF7442098D5}"/>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7119EBB5-14C8-4A9D-9E93-8B2E3E5C5005}"/>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15</a:t>
            </a:r>
          </a:p>
        </p:txBody>
      </p:sp>
      <p:sp>
        <p:nvSpPr>
          <p:cNvPr id="5" name="text-4">
            <a:extLst xmlns:a="http://schemas.openxmlformats.org/drawingml/2006/main">
              <a:ext uri="{FF2B5EF4-FFF2-40B4-BE49-F238E27FC236}">
                <a16:creationId xmlns:a16="http://schemas.microsoft.com/office/drawing/2014/main" id="{3820DF38-2FEF-406F-B7C4-FB31DA54BB4D}"/>
              </a:ext>
            </a:extLst>
          </p:cNvPr>
          <p:cNvSpPr>
            <a:spLocks xmlns:a="http://schemas.openxmlformats.org/drawingml/2006/main" noGrp="1"/>
          </p:cNvSpPr>
          <p:nvPr/>
        </p:nvSpPr>
        <p:spPr>
          <a:xfrm xmlns:a="http://schemas.openxmlformats.org/drawingml/2006/main">
            <a:off x="609600" y="20955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17647B"/>
                </a:solidFill>
                <a:latin typeface="Arial"/>
                <a:ea typeface="Arial"/>
                <a:cs typeface="Arial"/>
              </a:defRPr>
            </a:defPPr>
          </a:lstStyle>
          <a:p xmlns:a="http://schemas.openxmlformats.org/drawingml/2006/main">
            <a:pPr>
              <a:defRPr sz="2175" b="1">
                <a:solidFill>
                  <a:srgbClr val="17647B"/>
                </a:solidFill>
                <a:latin typeface="Arial"/>
                <a:ea typeface="Arial"/>
                <a:cs typeface="Arial"/>
              </a:defRPr>
            </a:pPr>
            <a:r>
              <a:rPr sz="2175" b="1">
                <a:solidFill>
                  <a:srgbClr val="17647B"/>
                </a:solidFill>
                <a:latin typeface="Arial"/>
                <a:ea typeface="Arial"/>
                <a:cs typeface="Arial"/>
              </a:rPr>
              <a:t>A working local workflow</a:t>
            </a:r>
          </a:p>
        </p:txBody>
      </p:sp>
      <p:sp>
        <p:nvSpPr>
          <p:cNvPr id="6" name="text-5">
            <a:extLst xmlns:a="http://schemas.openxmlformats.org/drawingml/2006/main">
              <a:ext uri="{FF2B5EF4-FFF2-40B4-BE49-F238E27FC236}">
                <a16:creationId xmlns:a16="http://schemas.microsoft.com/office/drawing/2014/main" id="{CC462BB1-1D9C-40E5-A3C5-E01B922BE57E}"/>
              </a:ext>
            </a:extLst>
          </p:cNvPr>
          <p:cNvSpPr>
            <a:spLocks xmlns:a="http://schemas.openxmlformats.org/drawingml/2006/main" noGrp="1"/>
          </p:cNvSpPr>
          <p:nvPr/>
        </p:nvSpPr>
        <p:spPr>
          <a:xfrm xmlns:a="http://schemas.openxmlformats.org/drawingml/2006/main">
            <a:off x="609600" y="26289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15374B"/>
                </a:solidFill>
                <a:latin typeface="Arial"/>
                <a:ea typeface="Arial"/>
                <a:cs typeface="Arial"/>
              </a:defRPr>
            </a:defPPr>
          </a:lstStyle>
          <a:p xmlns:a="http://schemas.openxmlformats.org/drawingml/2006/main">
            <a:pPr>
              <a:defRPr sz="2100" b="0">
                <a:solidFill>
                  <a:srgbClr val="15374B"/>
                </a:solidFill>
                <a:latin typeface="Arial"/>
                <a:ea typeface="Arial"/>
                <a:cs typeface="Arial"/>
              </a:defRPr>
            </a:pPr>
            <a:r>
              <a:rPr sz="2100" b="0">
                <a:solidFill>
                  <a:srgbClr val="15374B"/>
                </a:solidFill>
                <a:latin typeface="Arial"/>
                <a:ea typeface="Arial"/>
                <a:cs typeface="Arial"/>
              </a:rPr>
              <a:t>Source context and returned paths make errors easier to inspect. Citations alone do not guarantee correctness.</a:t>
            </a:r>
          </a:p>
        </p:txBody>
      </p:sp>
      <p:sp>
        <p:nvSpPr>
          <p:cNvPr id="7" name="text-6">
            <a:extLst xmlns:a="http://schemas.openxmlformats.org/drawingml/2006/main">
              <a:ext uri="{FF2B5EF4-FFF2-40B4-BE49-F238E27FC236}">
                <a16:creationId xmlns:a16="http://schemas.microsoft.com/office/drawing/2014/main" id="{1BF9337E-C444-4C6F-899F-65652D2CA99D}"/>
              </a:ext>
            </a:extLst>
          </p:cNvPr>
          <p:cNvSpPr>
            <a:spLocks xmlns:a="http://schemas.openxmlformats.org/drawingml/2006/main" noGrp="1"/>
          </p:cNvSpPr>
          <p:nvPr/>
        </p:nvSpPr>
        <p:spPr>
          <a:xfrm xmlns:a="http://schemas.openxmlformats.org/drawingml/2006/main">
            <a:off x="609600" y="40005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17647B"/>
                </a:solidFill>
                <a:latin typeface="Arial"/>
                <a:ea typeface="Arial"/>
                <a:cs typeface="Arial"/>
              </a:defRPr>
            </a:defPPr>
          </a:lstStyle>
          <a:p xmlns:a="http://schemas.openxmlformats.org/drawingml/2006/main">
            <a:pPr>
              <a:defRPr sz="2175" b="1">
                <a:solidFill>
                  <a:srgbClr val="17647B"/>
                </a:solidFill>
                <a:latin typeface="Arial"/>
                <a:ea typeface="Arial"/>
                <a:cs typeface="Arial"/>
              </a:defRPr>
            </a:pPr>
            <a:r>
              <a:rPr sz="2175" b="1">
                <a:solidFill>
                  <a:srgbClr val="17647B"/>
                </a:solidFill>
                <a:latin typeface="Arial"/>
                <a:ea typeface="Arial"/>
                <a:cs typeface="Arial"/>
              </a:rPr>
              <a:t>The strongest measured limitation is extraction coverage</a:t>
            </a:r>
          </a:p>
        </p:txBody>
      </p:sp>
      <p:sp>
        <p:nvSpPr>
          <p:cNvPr id="8" name="text-7">
            <a:extLst xmlns:a="http://schemas.openxmlformats.org/drawingml/2006/main">
              <a:ext uri="{FF2B5EF4-FFF2-40B4-BE49-F238E27FC236}">
                <a16:creationId xmlns:a16="http://schemas.microsoft.com/office/drawing/2014/main" id="{0C3557BC-47B1-42D1-8DD2-9C91EDFBA1F9}"/>
              </a:ext>
            </a:extLst>
          </p:cNvPr>
          <p:cNvSpPr>
            <a:spLocks xmlns:a="http://schemas.openxmlformats.org/drawingml/2006/main" noGrp="1"/>
          </p:cNvSpPr>
          <p:nvPr/>
        </p:nvSpPr>
        <p:spPr>
          <a:xfrm xmlns:a="http://schemas.openxmlformats.org/drawingml/2006/main">
            <a:off x="609600" y="45339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15374B"/>
                </a:solidFill>
                <a:latin typeface="Arial"/>
                <a:ea typeface="Arial"/>
                <a:cs typeface="Arial"/>
              </a:defRPr>
            </a:defPPr>
          </a:lstStyle>
          <a:p xmlns:a="http://schemas.openxmlformats.org/drawingml/2006/main">
            <a:pPr>
              <a:defRPr sz="2100" b="0">
                <a:solidFill>
                  <a:srgbClr val="15374B"/>
                </a:solidFill>
                <a:latin typeface="Arial"/>
                <a:ea typeface="Arial"/>
                <a:cs typeface="Arial"/>
              </a:defRPr>
            </a:pPr>
            <a:r>
              <a:rPr sz="2100" b="0">
                <a:solidFill>
                  <a:srgbClr val="15374B"/>
                </a:solidFill>
                <a:latin typeface="Arial"/>
                <a:ea typeface="Arial"/>
                <a:cs typeface="Arial"/>
              </a:rPr>
              <a:t>Recall is 0.067 against the scoped inventory. Missing QA outcomes and annotation gaps also constrain conclusions.</a:t>
            </a:r>
          </a:p>
        </p:txBody>
      </p:sp>
      <p:sp>
        <p:nvSpPr>
          <p:cNvPr id="9" name="text-8">
            <a:extLst xmlns:a="http://schemas.openxmlformats.org/drawingml/2006/main">
              <a:ext uri="{FF2B5EF4-FFF2-40B4-BE49-F238E27FC236}">
                <a16:creationId xmlns:a16="http://schemas.microsoft.com/office/drawing/2014/main" id="{A59DF69F-A4B4-49C7-836D-8EB7BD7BAF24}"/>
              </a:ext>
            </a:extLst>
          </p:cNvPr>
          <p:cNvSpPr>
            <a:spLocks xmlns:a="http://schemas.openxmlformats.org/drawingml/2006/main" noGrp="1"/>
          </p:cNvSpPr>
          <p:nvPr/>
        </p:nvSpPr>
        <p:spPr>
          <a:xfrm xmlns:a="http://schemas.openxmlformats.org/drawingml/2006/main">
            <a:off x="609600" y="57816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506476"/>
                </a:solidFill>
                <a:latin typeface="Arial"/>
                <a:ea typeface="Arial"/>
                <a:cs typeface="Arial"/>
              </a:defRPr>
            </a:defPPr>
          </a:lstStyle>
          <a:p xmlns:a="http://schemas.openxmlformats.org/drawingml/2006/main">
            <a:pPr>
              <a:defRPr sz="1800" b="0">
                <a:solidFill>
                  <a:srgbClr val="506476"/>
                </a:solidFill>
                <a:latin typeface="Arial"/>
                <a:ea typeface="Arial"/>
                <a:cs typeface="Arial"/>
              </a:defRPr>
            </a:pPr>
            <a:r>
              <a:rPr sz="1800" b="0">
                <a:solidFill>
                  <a:srgbClr val="506476"/>
                </a:solidFill>
                <a:latin typeface="Arial"/>
                <a:ea typeface="Arial"/>
                <a:cs typeface="Arial"/>
              </a:rPr>
              <a:t>General superiority and operational effectiveness remain unestablished.</a:t>
            </a:r>
          </a:p>
        </p:txBody>
      </p:sp>
    </p:spTree>
    <p:extLst>
      <p:ext uri="{BB962C8B-B14F-4D97-AF65-F5344CB8AC3E}">
        <p14:creationId xmlns:p14="http://schemas.microsoft.com/office/powerpoint/2010/main" val="1067616177"/>
      </p:ext>
    </p:extLst>
  </p:cSld>
</p:sld>
</file>

<file path=ppt/slides/slide1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7EB69647-A5AB-43B9-97E3-7A7804E98DE5}"/>
              </a:ext>
            </a:extLst>
          </p:cNvPr>
          <p:cNvSpPr>
            <a:spLocks xmlns:a="http://schemas.openxmlformats.org/drawingml/2006/main" noGrp="1"/>
          </p:cNvSpPr>
          <p:nvPr/>
        </p:nvSpPr>
        <p:spPr>
          <a:xfrm xmlns:a="http://schemas.openxmlformats.org/drawingml/2006/main">
            <a:off x="609600" y="2667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1">
                <a:solidFill>
                  <a:srgbClr val="17647B"/>
                </a:solidFill>
                <a:latin typeface="Arial"/>
                <a:ea typeface="Arial"/>
                <a:cs typeface="Arial"/>
              </a:defRPr>
            </a:defPPr>
          </a:lstStyle>
          <a:p xmlns:a="http://schemas.openxmlformats.org/drawingml/2006/main">
            <a:pPr>
              <a:defRPr sz="1275" b="1">
                <a:solidFill>
                  <a:srgbClr val="17647B"/>
                </a:solidFill>
                <a:latin typeface="Arial"/>
                <a:ea typeface="Arial"/>
                <a:cs typeface="Arial"/>
              </a:defRPr>
            </a:pPr>
            <a:r>
              <a:rPr sz="1275" b="1">
                <a:solidFill>
                  <a:srgbClr val="17647B"/>
                </a:solidFill>
                <a:latin typeface="Arial"/>
                <a:ea typeface="Arial"/>
                <a:cs typeface="Arial"/>
              </a:rPr>
              <a:t>THREATWEAVE / CS 6338</a:t>
            </a:r>
          </a:p>
        </p:txBody>
      </p:sp>
      <p:sp>
        <p:nvSpPr>
          <p:cNvPr id="2" name="text-1">
            <a:extLst xmlns:a="http://schemas.openxmlformats.org/drawingml/2006/main">
              <a:ext uri="{FF2B5EF4-FFF2-40B4-BE49-F238E27FC236}">
                <a16:creationId xmlns:a16="http://schemas.microsoft.com/office/drawing/2014/main" id="{505D097A-00D1-44A3-A59B-1220C87569C4}"/>
              </a:ext>
            </a:extLst>
          </p:cNvPr>
          <p:cNvSpPr>
            <a:spLocks xmlns:a="http://schemas.openxmlformats.org/drawingml/2006/main" noGrp="1"/>
          </p:cNvSpPr>
          <p:nvPr/>
        </p:nvSpPr>
        <p:spPr>
          <a:xfrm xmlns:a="http://schemas.openxmlformats.org/drawingml/2006/main">
            <a:off x="609600" y="819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300" b="1">
                <a:solidFill>
                  <a:srgbClr val="15374B"/>
                </a:solidFill>
                <a:latin typeface="Arial"/>
                <a:ea typeface="Arial"/>
                <a:cs typeface="Arial"/>
              </a:defRPr>
            </a:defPPr>
          </a:lstStyle>
          <a:p xmlns:a="http://schemas.openxmlformats.org/drawingml/2006/main">
            <a:pPr>
              <a:defRPr sz="3300" b="1">
                <a:solidFill>
                  <a:srgbClr val="15374B"/>
                </a:solidFill>
                <a:latin typeface="Arial"/>
                <a:ea typeface="Arial"/>
                <a:cs typeface="Arial"/>
              </a:defRPr>
            </a:pPr>
            <a:r>
              <a:rPr sz="3300" b="1">
                <a:solidFill>
                  <a:srgbClr val="15374B"/>
                </a:solidFill>
                <a:latin typeface="Arial"/>
                <a:ea typeface="Arial"/>
                <a:cs typeface="Arial"/>
              </a:rPr>
              <a:t>The repository preserves the evidence trail</a:t>
            </a:r>
          </a:p>
        </p:txBody>
      </p:sp>
      <p:sp>
        <p:nvSpPr>
          <p:cNvPr id="3" name="text-2">
            <a:extLst xmlns:a="http://schemas.openxmlformats.org/drawingml/2006/main">
              <a:ext uri="{FF2B5EF4-FFF2-40B4-BE49-F238E27FC236}">
                <a16:creationId xmlns:a16="http://schemas.microsoft.com/office/drawing/2014/main" id="{916C159F-8889-4765-88CC-94D013F15473}"/>
              </a:ext>
            </a:extLst>
          </p:cNvPr>
          <p:cNvSpPr>
            <a:spLocks xmlns:a="http://schemas.openxmlformats.org/drawingml/2006/main" noGrp="1"/>
          </p:cNvSpPr>
          <p:nvPr/>
        </p:nvSpPr>
        <p:spPr>
          <a:xfrm xmlns:a="http://schemas.openxmlformats.org/drawingml/2006/main">
            <a:off x="609600" y="6353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Stephen Butler     October 16, 2026</a:t>
            </a:r>
          </a:p>
        </p:txBody>
      </p:sp>
      <p:sp>
        <p:nvSpPr>
          <p:cNvPr id="4" name="text-3">
            <a:extLst xmlns:a="http://schemas.openxmlformats.org/drawingml/2006/main">
              <a:ext uri="{FF2B5EF4-FFF2-40B4-BE49-F238E27FC236}">
                <a16:creationId xmlns:a16="http://schemas.microsoft.com/office/drawing/2014/main" id="{172DDB25-5EB7-4E5A-AE4E-6E85ABA771B4}"/>
              </a:ext>
            </a:extLst>
          </p:cNvPr>
          <p:cNvSpPr>
            <a:spLocks xmlns:a="http://schemas.openxmlformats.org/drawingml/2006/main" noGrp="1"/>
          </p:cNvSpPr>
          <p:nvPr/>
        </p:nvSpPr>
        <p:spPr>
          <a:xfrm xmlns:a="http://schemas.openxmlformats.org/drawingml/2006/main">
            <a:off x="11049000" y="63531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506476"/>
                </a:solidFill>
                <a:latin typeface="Arial"/>
                <a:ea typeface="Arial"/>
                <a:cs typeface="Arial"/>
              </a:defRPr>
            </a:defPPr>
          </a:lstStyle>
          <a:p xmlns:a="http://schemas.openxmlformats.org/drawingml/2006/main">
            <a:pPr>
              <a:defRPr sz="1125" b="0">
                <a:solidFill>
                  <a:srgbClr val="506476"/>
                </a:solidFill>
                <a:latin typeface="Arial"/>
                <a:ea typeface="Arial"/>
                <a:cs typeface="Arial"/>
              </a:defRPr>
            </a:pPr>
            <a:r>
              <a:rPr sz="1125" b="0">
                <a:solidFill>
                  <a:srgbClr val="506476"/>
                </a:solidFill>
                <a:latin typeface="Arial"/>
                <a:ea typeface="Arial"/>
                <a:cs typeface="Arial"/>
              </a:rPr>
              <a:t>16</a:t>
            </a:r>
          </a:p>
        </p:txBody>
      </p:sp>
      <p:graphicFrame>
        <p:nvGraphicFramePr>
          <p:cNvPr id="5" name="">
            <a:extLst xmlns:a="http://schemas.openxmlformats.org/drawingml/2006/main">
              <a:ext uri="{FF2B5EF4-FFF2-40B4-BE49-F238E27FC236}">
                <a16:creationId xmlns:a16="http://schemas.microsoft.com/office/drawing/2014/main" id="{027FC8C4-6D68-466B-BA67-6EE3F8B6384D}"/>
              </a:ext>
            </a:extLst>
          </p:cNvPr>
          <p:cNvGraphicFramePr/>
          <p:nvPr/>
        </p:nvGraphicFramePr>
        <p:xfrm>
          <a:off xmlns:a="http://schemas.openxmlformats.org/drawingml/2006/main" x="609600" y="2038350"/>
          <a:ext xmlns:a="http://schemas.openxmlformats.org/drawingml/2006/main" cx="10972800" cy="3333750"/>
        </p:xfrm>
        <a:graphic xmlns:a="http://schemas.openxmlformats.org/drawingml/2006/main">
          <a:graphicData uri="http://schemas.openxmlformats.org/drawingml/2006/table">
            <a:tbl>
              <a:tblPr/>
              <a:tblGrid>
                <a:gridCol w="4476750"/>
                <a:gridCol w="6496050"/>
              </a:tblGrid>
              <a:tr h="666750">
                <a:tc>
                  <a:txBody>
                    <a:bodyPr/>
                    <a:lstStyle/>
                    <a:p>
                      <a:r>
                        <a:rPr sz="1800" b="1">
                          <a:solidFill>
                            <a:srgbClr val="FFFFFF"/>
                          </a:solidFill>
                          <a:latin typeface="Arial"/>
                          <a:ea typeface="Arial"/>
                          <a:cs typeface="Arial"/>
                        </a:rPr>
                        <a:t>Record</a:t>
                      </a:r>
                    </a:p>
                  </a:txBody>
                  <a:tcPr marL="133350" marR="133350" marT="95250" marB="95250" anchor="ctr">
                    <a:lnL w="5715">
                      <a:solidFill>
                        <a:srgbClr val="D5E0E6"/>
                      </a:solidFill>
                      <a:prstDash val="solid"/>
                    </a:lnL>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c>
                  <a:txBody>
                    <a:bodyPr/>
                    <a:lstStyle/>
                    <a:p>
                      <a:r>
                        <a:rPr sz="1800" b="1">
                          <a:solidFill>
                            <a:srgbClr val="FFFFFF"/>
                          </a:solidFill>
                          <a:latin typeface="Arial"/>
                          <a:ea typeface="Arial"/>
                          <a:cs typeface="Arial"/>
                        </a:rPr>
                        <a:t>What a reviewer can verify</a:t>
                      </a:r>
                    </a:p>
                  </a:txBody>
                  <a:tcPr marL="133350" marR="133350" marT="95250" marB="95250" anchor="ctr">
                    <a:lnR w="5715">
                      <a:solidFill>
                        <a:srgbClr val="D5E0E6"/>
                      </a:solidFill>
                      <a:prstDash val="solid"/>
                    </a:lnR>
                    <a:lnT w="5715">
                      <a:solidFill>
                        <a:srgbClr val="D5E0E6"/>
                      </a:solidFill>
                      <a:prstDash val="solid"/>
                    </a:lnT>
                    <a:lnB w="5715">
                      <a:solidFill>
                        <a:srgbClr val="D5E0E6"/>
                      </a:solidFill>
                      <a:prstDash val="solid"/>
                    </a:lnB>
                    <a:solidFill>
                      <a:srgbClr val="15374B"/>
                    </a:solidFill>
                  </a:tcPr>
                </a:tc>
              </a:tr>
              <a:tr h="666750">
                <a:tc>
                  <a:txBody>
                    <a:bodyPr/>
                    <a:lstStyle/>
                    <a:p>
                      <a:r>
                        <a:rPr sz="1800">
                          <a:solidFill>
                            <a:srgbClr val="15374B"/>
                          </a:solidFill>
                          <a:latin typeface="Arial"/>
                          <a:ea typeface="Arial"/>
                          <a:cs typeface="Arial"/>
                        </a:rPr>
                        <a:t>Source manifest and split</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Snapshot identity and question assignments</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666750">
                <a:tc>
                  <a:txBody>
                    <a:bodyPr/>
                    <a:lstStyle/>
                    <a:p>
                      <a:r>
                        <a:rPr sz="1800">
                          <a:solidFill>
                            <a:srgbClr val="15374B"/>
                          </a:solidFill>
                          <a:latin typeface="Arial"/>
                          <a:ea typeface="Arial"/>
                          <a:cs typeface="Arial"/>
                        </a:rPr>
                        <a:t>Collection/scoring receipts</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Attempts, terminal failures and metric availability</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r h="666750">
                <a:tc>
                  <a:txBody>
                    <a:bodyPr/>
                    <a:lstStyle/>
                    <a:p>
                      <a:r>
                        <a:rPr sz="1800">
                          <a:solidFill>
                            <a:srgbClr val="15374B"/>
                          </a:solidFill>
                          <a:latin typeface="Arial"/>
                          <a:ea typeface="Arial"/>
                          <a:cs typeface="Arial"/>
                        </a:rPr>
                        <a:t>Extraction analysis</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EAF1F5"/>
                    </a:solidFill>
                  </a:tcPr>
                </a:tc>
                <a:tc>
                  <a:txBody>
                    <a:bodyPr/>
                    <a:lstStyle/>
                    <a:p>
                      <a:r>
                        <a:rPr sz="1800">
                          <a:solidFill>
                            <a:srgbClr val="15374B"/>
                          </a:solidFill>
                          <a:latin typeface="Arial"/>
                          <a:ea typeface="Arial"/>
                          <a:cs typeface="Arial"/>
                        </a:rPr>
                        <a:t>Scoped predictions and annotation audit</a:t>
                      </a:r>
                    </a:p>
                  </a:txBody>
                  <a:tcPr marL="133350" marR="133350" marT="95250" marB="95250" anchor="ctr">
                    <a:lnR w="5715">
                      <a:solidFill>
                        <a:srgbClr val="D5E0E6"/>
                      </a:solidFill>
                      <a:prstDash val="solid"/>
                    </a:lnR>
                    <a:lnB w="5715">
                      <a:solidFill>
                        <a:srgbClr val="D5E0E6"/>
                      </a:solidFill>
                      <a:prstDash val="solid"/>
                    </a:lnB>
                    <a:solidFill>
                      <a:srgbClr val="EAF1F5"/>
                    </a:solidFill>
                  </a:tcPr>
                </a:tc>
              </a:tr>
              <a:tr h="666750">
                <a:tc>
                  <a:txBody>
                    <a:bodyPr/>
                    <a:lstStyle/>
                    <a:p>
                      <a:r>
                        <a:rPr sz="1800">
                          <a:solidFill>
                            <a:srgbClr val="15374B"/>
                          </a:solidFill>
                          <a:latin typeface="Arial"/>
                          <a:ea typeface="Arial"/>
                          <a:cs typeface="Arial"/>
                        </a:rPr>
                        <a:t>Human review exports</a:t>
                      </a:r>
                    </a:p>
                  </a:txBody>
                  <a:tcPr marL="133350" marR="133350" marT="95250" marB="95250" anchor="ctr">
                    <a:lnL w="5715">
                      <a:solidFill>
                        <a:srgbClr val="D5E0E6"/>
                      </a:solidFill>
                      <a:prstDash val="solid"/>
                    </a:lnL>
                    <a:lnR w="5715">
                      <a:solidFill>
                        <a:srgbClr val="D5E0E6"/>
                      </a:solidFill>
                      <a:prstDash val="solid"/>
                    </a:lnR>
                    <a:lnB w="5715">
                      <a:solidFill>
                        <a:srgbClr val="D5E0E6"/>
                      </a:solidFill>
                      <a:prstDash val="solid"/>
                    </a:lnB>
                    <a:solidFill>
                      <a:srgbClr val="FFFFFF"/>
                    </a:solidFill>
                  </a:tcPr>
                </a:tc>
                <a:tc>
                  <a:txBody>
                    <a:bodyPr/>
                    <a:lstStyle/>
                    <a:p>
                      <a:r>
                        <a:rPr sz="1800">
                          <a:solidFill>
                            <a:srgbClr val="15374B"/>
                          </a:solidFill>
                          <a:latin typeface="Arial"/>
                          <a:ea typeface="Arial"/>
                          <a:cs typeface="Arial"/>
                        </a:rPr>
                        <a:t>Ratings, N/A reasons and reviewer consistency</a:t>
                      </a:r>
                    </a:p>
                  </a:txBody>
                  <a:tcPr marL="133350" marR="133350" marT="95250" marB="95250" anchor="ctr">
                    <a:lnR w="5715">
                      <a:solidFill>
                        <a:srgbClr val="D5E0E6"/>
                      </a:solidFill>
                      <a:prstDash val="solid"/>
                    </a:lnR>
                    <a:lnB w="5715">
                      <a:solidFill>
                        <a:srgbClr val="D5E0E6"/>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19A0B193-FAA8-4FD4-A60E-6A0C364D6DC3}"/>
              </a:ext>
            </a:extLst>
          </p:cNvPr>
          <p:cNvSpPr>
            <a:spLocks xmlns:a="http://schemas.openxmlformats.org/drawingml/2006/main" noGrp="1"/>
          </p:cNvSpPr>
          <p:nvPr/>
        </p:nvSpPr>
        <p:spPr>
          <a:xfrm xmlns:a="http://schemas.openxmlformats.org/drawingml/2006/main">
            <a:off x="609600" y="57054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0">
                <a:solidFill>
                  <a:srgbClr val="506476"/>
                </a:solidFill>
                <a:latin typeface="Arial"/>
                <a:ea typeface="Arial"/>
                <a:cs typeface="Arial"/>
              </a:defRPr>
            </a:defPPr>
          </a:lstStyle>
          <a:p xmlns:a="http://schemas.openxmlformats.org/drawingml/2006/main">
            <a:pPr>
              <a:defRPr sz="1875" b="0">
                <a:solidFill>
                  <a:srgbClr val="506476"/>
                </a:solidFill>
                <a:latin typeface="Arial"/>
                <a:ea typeface="Arial"/>
                <a:cs typeface="Arial"/>
              </a:defRPr>
            </a:pPr>
            <a:r>
              <a:rPr sz="1875" b="0">
                <a:solidFill>
                  <a:srgbClr val="506476"/>
                </a:solidFill>
                <a:latin typeface="Arial"/>
                <a:ea typeface="Arial"/>
                <a:cs typeface="Arial"/>
              </a:rPr>
              <a:t>Run identities and source citations appear in the speaker notes and report.</a:t>
            </a:r>
          </a:p>
        </p:txBody>
      </p:sp>
    </p:spTree>
    <p:extLst>
      <p:ext uri="{BB962C8B-B14F-4D97-AF65-F5344CB8AC3E}">
        <p14:creationId xmlns:p14="http://schemas.microsoft.com/office/powerpoint/2010/main" val="12681299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2026-10-16T17:48:03.0630000Z</dcterms:created>
  <dcterms:modified xsi:type="dcterms:W3CDTF">2026-10-16T17:48:03.0630000Z</dcterms:modified>
</coreProperties>
</file>